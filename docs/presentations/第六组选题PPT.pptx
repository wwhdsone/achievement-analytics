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68" r:id="rId5"/>
    <p:sldId id="259" r:id="rId6"/>
    <p:sldId id="257" r:id="rId7"/>
    <p:sldId id="262" r:id="rId8"/>
    <p:sldId id="263" r:id="rId9"/>
    <p:sldId id="269" r:id="rId10"/>
    <p:sldId id="270" r:id="rId11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本次汇报重点是数据工程的实际投入与成果，以及最新版计划中的下一步方向。168小时来自汇报者对脚本编写、数据库定义和数据获取的个人估算，不是自动记录的精确工时。</a:t>
            </a:r>
          </a:p>
          <a:p/>
          <a:p>
            <a:r>
              <a:t>来源：用户本次说明；/Users/Learning/course/achievement-analytics/docs/plan.md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6.xml"/><Relationship Id="rId2" Type="http://schemas.openxmlformats.org/officeDocument/2006/relationships/hyperlink" Target="https://www.soyorinlove.cn" TargetMode="External"/><Relationship Id="rId1" Type="http://schemas.openxmlformats.org/officeDocument/2006/relationships/hyperlink" Target="https://github.com/WwhdsOne/achievement-analytics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B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09600" y="908685"/>
            <a:ext cx="108585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57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57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lang="zh-CN" altLang="en-US" sz="48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基于游戏特征与成就数据的分析</a:t>
            </a:r>
            <a:endParaRPr lang="zh-CN" altLang="en-US" sz="4800" b="1">
              <a:solidFill>
                <a:srgbClr val="FFFF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6237605"/>
            <a:ext cx="9525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BDD0C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800" b="0">
                <a:solidFill>
                  <a:srgbClr val="BDD0C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00" b="0">
                <a:solidFill>
                  <a:srgbClr val="BDD0C8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课程项目阶段汇报     2026 年 10 月</a:t>
            </a:r>
            <a:endParaRPr sz="1800" b="0">
              <a:solidFill>
                <a:srgbClr val="BDD0C8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23570" y="3120390"/>
            <a:ext cx="108585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42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42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lang="zh-CN" sz="42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组长</a:t>
            </a:r>
            <a:r>
              <a:rPr lang="en-US" altLang="zh-CN" sz="42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：</a:t>
            </a:r>
            <a:r>
              <a:rPr lang="zh-CN" altLang="en-US" sz="42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王文海</a:t>
            </a:r>
            <a:endParaRPr lang="zh-CN" altLang="en-US" sz="4200" b="1">
              <a:solidFill>
                <a:srgbClr val="FFFF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3932555"/>
            <a:ext cx="108585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42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42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lang="zh-CN" altLang="en-US" sz="42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组员</a:t>
            </a:r>
            <a:r>
              <a:rPr lang="en-US" altLang="zh-CN" sz="42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：</a:t>
            </a:r>
            <a:r>
              <a:rPr lang="zh-CN" altLang="en-US" sz="42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刘宇翔</a:t>
            </a:r>
            <a:r>
              <a:rPr lang="en-US" altLang="zh-CN" sz="42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、</a:t>
            </a:r>
            <a:r>
              <a:rPr lang="zh-CN" altLang="en-US" sz="42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杨金辉</a:t>
            </a:r>
            <a:r>
              <a:rPr lang="en-US" altLang="zh-CN" sz="42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、</a:t>
            </a:r>
            <a:r>
              <a:rPr lang="zh-CN" altLang="en-US" sz="42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耶美田</a:t>
            </a:r>
            <a:r>
              <a:rPr lang="en-US" altLang="zh-CN" sz="42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、</a:t>
            </a:r>
            <a:r>
              <a:rPr lang="zh-CN" altLang="en-US" sz="42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朱政</a:t>
            </a:r>
            <a:r>
              <a:rPr lang="zh-CN" altLang="en-US" sz="42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宇</a:t>
            </a:r>
            <a:endParaRPr lang="zh-CN" altLang="en-US" sz="4200" b="1">
              <a:solidFill>
                <a:srgbClr val="FFFF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23570" y="4874260"/>
            <a:ext cx="10492105" cy="4673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42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42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lang="zh-CN" altLang="en-US" sz="24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项目仓库</a:t>
            </a:r>
            <a:r>
              <a:rPr lang="en-US" altLang="zh-CN" sz="24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：</a:t>
            </a:r>
            <a:r>
              <a:rPr lang="en-US" altLang="zh-CN" sz="20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  <a:hlinkClick r:id="rId1" action="ppaction://hlinkfile"/>
              </a:rPr>
              <a:t>https://github.com/WwhdsOne/achievement-analytics</a:t>
            </a:r>
            <a:endParaRPr lang="en-US" altLang="zh-CN" sz="2000" b="1">
              <a:solidFill>
                <a:srgbClr val="FFFF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  <a:hlinkClick r:id="rId1" action="ppaction://hlinkfile"/>
            </a:endParaRPr>
          </a:p>
          <a:p>
            <a:pPr>
              <a:defRPr sz="42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endParaRPr lang="zh-CN" altLang="en-US" sz="2000" b="1">
              <a:solidFill>
                <a:srgbClr val="FFFF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  <a:hlinkClick r:id="rId1" action="ppaction://hlinkfile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5483225"/>
            <a:ext cx="10492105" cy="4673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42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42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lang="zh-CN" altLang="en-US" sz="24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项目</a:t>
            </a:r>
            <a:r>
              <a:rPr lang="zh-CN" altLang="en-US" sz="24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体验地址</a:t>
            </a:r>
            <a:r>
              <a:rPr lang="en-US" altLang="zh-CN" sz="24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：</a:t>
            </a:r>
            <a:r>
              <a:rPr lang="en-US" altLang="zh-CN" sz="24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  <a:hlinkClick r:id="rId2" action="ppaction://hlinkfile"/>
              </a:rPr>
              <a:t>https://www.soyorinlove.cn</a:t>
            </a:r>
            <a:endParaRPr lang="en-US" altLang="zh-CN" sz="2400" b="1">
              <a:solidFill>
                <a:srgbClr val="FFFF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  <a:hlinkClick r:id="rId2" action="ppaction://hlinkfile"/>
            </a:endParaRPr>
          </a:p>
          <a:p>
            <a:pPr>
              <a:defRPr sz="42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endParaRPr lang="en-US" altLang="zh-CN" sz="2000" b="1">
              <a:solidFill>
                <a:srgbClr val="FFFF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  <a:hlinkClick r:id="rId1" action="ppaction://hlinkfile"/>
            </a:endParaRPr>
          </a:p>
          <a:p>
            <a:pPr>
              <a:defRPr sz="420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endParaRPr lang="zh-CN" altLang="en-US" sz="2000" b="1">
              <a:solidFill>
                <a:srgbClr val="FFFF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  <a:hlinkClick r:id="rId1" action="ppaction://hlinkfil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矩形 4"/>
          <p:cNvSpPr>
            <a:spLocks noGrp="1"/>
          </p:cNvSpPr>
          <p:nvPr/>
        </p:nvSpPr>
        <p:spPr>
          <a:xfrm>
            <a:off x="609600" y="457200"/>
            <a:ext cx="109728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72A2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3300" b="1">
                <a:solidFill>
                  <a:srgbClr val="172A2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lang="zh-CN" sz="3300" b="1">
                <a:solidFill>
                  <a:srgbClr val="172A2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当前目标</a:t>
            </a:r>
            <a:r>
              <a:rPr lang="en-US" altLang="zh-CN" sz="3300" b="1">
                <a:solidFill>
                  <a:srgbClr val="172A2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：</a:t>
            </a:r>
            <a:r>
              <a:rPr lang="zh-CN" sz="3300" b="1">
                <a:solidFill>
                  <a:srgbClr val="172A2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分析游戏数据</a:t>
            </a:r>
            <a:r>
              <a:rPr lang="en-US" altLang="zh-CN" sz="3300" b="1">
                <a:solidFill>
                  <a:srgbClr val="172A2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，</a:t>
            </a:r>
            <a:r>
              <a:rPr sz="3300" b="1">
                <a:solidFill>
                  <a:srgbClr val="172A2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包含六个方向</a:t>
            </a:r>
            <a:endParaRPr lang="zh-CN" sz="3300" b="1">
              <a:solidFill>
                <a:srgbClr val="172A2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609600" y="1619250"/>
          <a:ext cx="10972800" cy="4141470"/>
        </p:xfrm>
        <a:graphic>
          <a:graphicData uri="http://schemas.openxmlformats.org/drawingml/2006/table">
            <a:tbl>
              <a:tblPr firstRow="1"/>
              <a:tblGrid>
                <a:gridCol w="3572510"/>
                <a:gridCol w="1094740"/>
                <a:gridCol w="2051450"/>
                <a:gridCol w="4000500"/>
              </a:tblGrid>
              <a:tr h="576943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方向</a:t>
                      </a:r>
                      <a:endParaRPr sz="1725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L w="6191">
                      <a:solidFill>
                        <a:srgbClr val="D8DED7"/>
                      </a:solidFill>
                      <a:prstDash val="solid"/>
                    </a:lnL>
                    <a:lnR w="6191">
                      <a:solidFill>
                        <a:srgbClr val="D8DED7"/>
                      </a:solidFill>
                      <a:prstDash val="solid"/>
                    </a:lnR>
                    <a:lnT w="6191">
                      <a:solidFill>
                        <a:srgbClr val="D8DED7"/>
                      </a:solidFill>
                      <a:prstDash val="solid"/>
                    </a:lnT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246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优先级</a:t>
                      </a:r>
                      <a:endParaRPr sz="1725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R w="6191">
                      <a:solidFill>
                        <a:srgbClr val="D8DED7"/>
                      </a:solidFill>
                      <a:prstDash val="solid"/>
                    </a:lnR>
                    <a:lnT w="6191">
                      <a:solidFill>
                        <a:srgbClr val="D8DED7"/>
                      </a:solidFill>
                      <a:prstDash val="solid"/>
                    </a:lnT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246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执行人</a:t>
                      </a:r>
                      <a:endParaRPr sz="1725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R w="6191">
                      <a:solidFill>
                        <a:srgbClr val="D8DED7"/>
                      </a:solidFill>
                      <a:prstDash val="solid"/>
                    </a:lnR>
                    <a:lnT w="6191">
                      <a:solidFill>
                        <a:srgbClr val="D8DED7"/>
                      </a:solidFill>
                      <a:prstDash val="solid"/>
                    </a:lnT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246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预期产出</a:t>
                      </a:r>
                      <a:endParaRPr sz="1725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R w="6191">
                      <a:solidFill>
                        <a:srgbClr val="D8DED7"/>
                      </a:solidFill>
                      <a:prstDash val="solid"/>
                    </a:lnR>
                    <a:lnT w="6191">
                      <a:solidFill>
                        <a:srgbClr val="D8DED7"/>
                      </a:solidFill>
                      <a:prstDash val="solid"/>
                    </a:lnT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246A5F"/>
                    </a:solidFill>
                  </a:tcPr>
                </a:tc>
              </a:tr>
              <a:tr h="576943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发售年份与</a:t>
                      </a:r>
                      <a:r>
                        <a:rPr lang="zh-CN" sz="1725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潮流</a:t>
                      </a:r>
                      <a:r>
                        <a:rPr sz="1725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类型演变</a:t>
                      </a:r>
                      <a:endParaRPr sz="1725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L w="6191">
                      <a:solidFill>
                        <a:srgbClr val="D8DED7"/>
                      </a:solidFill>
                      <a:prstDash val="solid"/>
                    </a:lnL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主线</a:t>
                      </a:r>
                      <a:endParaRPr sz="1725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725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杨金辉</a:t>
                      </a:r>
                      <a:endParaRPr lang="zh-CN" altLang="en-US" sz="1725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年度趋势与热力图</a:t>
                      </a:r>
                      <a:endParaRPr sz="1725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</a:tr>
              <a:tr h="576943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游戏画像聚类</a:t>
                      </a:r>
                      <a:endParaRPr sz="1725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L w="6191">
                      <a:solidFill>
                        <a:srgbClr val="D8DED7"/>
                      </a:solidFill>
                      <a:prstDash val="solid"/>
                    </a:lnL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扩展</a:t>
                      </a:r>
                      <a:endParaRPr sz="1725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725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耶美田</a:t>
                      </a:r>
                      <a:endParaRPr lang="zh-CN" altLang="en-US" sz="1725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游戏类别与代表作品</a:t>
                      </a:r>
                      <a:endParaRPr sz="1725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</a:tr>
              <a:tr h="576943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主线进度漏斗</a:t>
                      </a:r>
                      <a:endParaRPr sz="1725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L w="6191">
                      <a:solidFill>
                        <a:srgbClr val="D8DED7"/>
                      </a:solidFill>
                      <a:prstDash val="solid"/>
                    </a:lnL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主线</a:t>
                      </a:r>
                      <a:endParaRPr sz="1725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刘宇翔</a:t>
                      </a:r>
                      <a:endParaRPr lang="en-US" sz="1725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关键主线节点完成率</a:t>
                      </a:r>
                      <a:endParaRPr sz="1725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</a:tr>
              <a:tr h="576943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可解释推荐</a:t>
                      </a:r>
                      <a:endParaRPr lang="en-US" sz="1725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L w="6191">
                      <a:solidFill>
                        <a:srgbClr val="D8DED7"/>
                      </a:solidFill>
                      <a:prstDash val="solid"/>
                    </a:lnL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主线</a:t>
                      </a:r>
                      <a:endParaRPr sz="1725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725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全体</a:t>
                      </a:r>
                      <a:endParaRPr lang="zh-CN" altLang="en-US" sz="1725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相似游戏与推荐理由</a:t>
                      </a:r>
                      <a:endParaRPr sz="1725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</a:tr>
              <a:tr h="576943">
                <a:tc>
                  <a:txBody>
                    <a:bodyPr/>
                    <a:lstStyle/>
                    <a:p>
                      <a:pPr algn="l"/>
                      <a:r>
                        <a:rPr lang="zh-CN" sz="1725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实际</a:t>
                      </a:r>
                      <a:r>
                        <a:rPr sz="1725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完成曲线与RAWG</a:t>
                      </a:r>
                      <a:r>
                        <a:rPr lang="zh-CN" sz="1725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论坛数据</a:t>
                      </a:r>
                      <a:r>
                        <a:rPr lang="zh-CN" sz="1725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对比</a:t>
                      </a:r>
                      <a:endParaRPr lang="zh-CN" sz="1725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L w="6191">
                      <a:solidFill>
                        <a:srgbClr val="D8DED7"/>
                      </a:solidFill>
                      <a:prstDash val="solid"/>
                    </a:lnL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725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扩展</a:t>
                      </a:r>
                      <a:endParaRPr lang="zh-CN" sz="1725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王文海</a:t>
                      </a:r>
                      <a:endParaRPr lang="en-US" sz="1725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内容分类与跨平台对照</a:t>
                      </a:r>
                      <a:endParaRPr sz="1725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</a:tr>
              <a:tr h="576943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游戏口碑预测与关联因素</a:t>
                      </a:r>
                      <a:endParaRPr sz="1725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L w="6191">
                      <a:solidFill>
                        <a:srgbClr val="D8DED7"/>
                      </a:solidFill>
                      <a:prstDash val="solid"/>
                    </a:lnL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扩展</a:t>
                      </a:r>
                      <a:endParaRPr sz="1725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王文海</a:t>
                      </a:r>
                      <a:endParaRPr sz="1725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预测评估与相关因素</a:t>
                      </a:r>
                      <a:endParaRPr sz="1725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609600" y="457200"/>
            <a:ext cx="109728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72A2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3300" b="1">
                <a:solidFill>
                  <a:srgbClr val="172A2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lang="zh-CN" sz="3300" b="1">
                <a:solidFill>
                  <a:srgbClr val="172A2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七</a:t>
            </a:r>
            <a:r>
              <a:rPr sz="3300" b="1">
                <a:solidFill>
                  <a:srgbClr val="172A2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类逐款数据源，</a:t>
            </a:r>
            <a:r>
              <a:rPr lang="zh-CN" sz="3300" b="1">
                <a:solidFill>
                  <a:srgbClr val="172A2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组合</a:t>
            </a:r>
            <a:r>
              <a:rPr sz="3300" b="1">
                <a:solidFill>
                  <a:srgbClr val="172A2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一份游戏档案</a:t>
            </a:r>
            <a:endParaRPr sz="3300" b="1">
              <a:solidFill>
                <a:srgbClr val="172A2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6381750"/>
            <a:ext cx="97155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125" b="0">
                <a:solidFill>
                  <a:srgbClr val="5B6864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125" b="0">
                <a:solidFill>
                  <a:srgbClr val="5B6864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125" b="0">
                <a:solidFill>
                  <a:srgbClr val="5B6864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商店中英文详情是两次独立请求，通常写入同一商店详情表及游戏名称字段。</a:t>
            </a:r>
            <a:endParaRPr sz="1125" b="0">
              <a:solidFill>
                <a:srgbClr val="5B6864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609600" y="1657350"/>
          <a:ext cx="10972800" cy="4550410"/>
        </p:xfrm>
        <a:graphic>
          <a:graphicData uri="http://schemas.openxmlformats.org/drawingml/2006/table">
            <a:tbl>
              <a:tblPr firstRow="1"/>
              <a:tblGrid>
                <a:gridCol w="3143250"/>
                <a:gridCol w="7829550"/>
              </a:tblGrid>
              <a:tr h="568779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逐款源</a:t>
                      </a:r>
                      <a:endParaRPr sz="18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L w="6191">
                      <a:solidFill>
                        <a:srgbClr val="D8DED7"/>
                      </a:solidFill>
                      <a:prstDash val="solid"/>
                    </a:lnL>
                    <a:lnR w="6191">
                      <a:solidFill>
                        <a:srgbClr val="D8DED7"/>
                      </a:solidFill>
                      <a:prstDash val="solid"/>
                    </a:lnR>
                    <a:lnT w="6191">
                      <a:solidFill>
                        <a:srgbClr val="D8DED7"/>
                      </a:solidFill>
                      <a:prstDash val="solid"/>
                    </a:lnT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246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关键内容</a:t>
                      </a:r>
                      <a:endParaRPr sz="18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R w="6191">
                      <a:solidFill>
                        <a:srgbClr val="D8DED7"/>
                      </a:solidFill>
                      <a:prstDash val="solid"/>
                    </a:lnR>
                    <a:lnT w="6191">
                      <a:solidFill>
                        <a:srgbClr val="D8DED7"/>
                      </a:solidFill>
                      <a:prstDash val="solid"/>
                    </a:lnT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246A5F"/>
                    </a:solidFill>
                  </a:tcPr>
                </a:tc>
              </a:tr>
              <a:tr h="568779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Steam 英文商店</a:t>
                      </a:r>
                      <a:endParaRPr sz="1800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L w="6191">
                      <a:solidFill>
                        <a:srgbClr val="D8DED7"/>
                      </a:solidFill>
                      <a:prstDash val="solid"/>
                    </a:lnL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名称、价格、发售日、类型、开发商</a:t>
                      </a:r>
                      <a:endParaRPr sz="1800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</a:tr>
              <a:tr h="568779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Steam 中文商店</a:t>
                      </a:r>
                      <a:endParaRPr sz="1800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L w="6191">
                      <a:solidFill>
                        <a:srgbClr val="D8DED7"/>
                      </a:solidFill>
                      <a:prstDash val="solid"/>
                    </a:lnL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官方中文名称与本地化详情</a:t>
                      </a:r>
                      <a:endParaRPr sz="1800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</a:tr>
              <a:tr h="568779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Steam 全局成就率</a:t>
                      </a:r>
                      <a:endParaRPr sz="1800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L w="6191">
                      <a:solidFill>
                        <a:srgbClr val="D8DED7"/>
                      </a:solidFill>
                      <a:prstDash val="solid"/>
                    </a:lnL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每项成就的全局解锁比例</a:t>
                      </a:r>
                      <a:endParaRPr sz="1800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</a:tr>
              <a:tr h="568779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Steam 社区成就页</a:t>
                      </a:r>
                      <a:endParaRPr sz="1800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L w="6191">
                      <a:solidFill>
                        <a:srgbClr val="D8DED7"/>
                      </a:solidFill>
                      <a:prstDash val="solid"/>
                    </a:lnL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成就展示名与描述</a:t>
                      </a:r>
                      <a:endParaRPr sz="1800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</a:tr>
              <a:tr h="568779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SteamSpy</a:t>
                      </a:r>
                      <a:endParaRPr sz="1800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L w="6191">
                      <a:solidFill>
                        <a:srgbClr val="D8DED7"/>
                      </a:solidFill>
                      <a:prstDash val="solid"/>
                    </a:lnL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标签、拥有量估算、在线量、好评与差评</a:t>
                      </a:r>
                      <a:endParaRPr sz="1800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</a:tr>
              <a:tr h="568779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RAWG</a:t>
                      </a:r>
                      <a:r>
                        <a:rPr lang="en-US" sz="1800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（</a:t>
                      </a:r>
                      <a:r>
                        <a:rPr lang="zh-CN" altLang="en-US" sz="1800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仅部分游戏获取</a:t>
                      </a:r>
                      <a:r>
                        <a:rPr lang="en-US" sz="1800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）</a:t>
                      </a:r>
                      <a:endParaRPr lang="en-US" sz="1800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L w="6191">
                      <a:solidFill>
                        <a:srgbClr val="D8DED7"/>
                      </a:solidFill>
                      <a:prstDash val="solid"/>
                    </a:lnL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评分、时长、通关及弃坑状态</a:t>
                      </a:r>
                      <a:endParaRPr sz="1800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</a:tr>
              <a:tr h="568779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1800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PlayMyData</a:t>
                      </a:r>
                      <a:endParaRPr lang="en-US" altLang="en-US" sz="1800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L w="6191">
                      <a:solidFill>
                        <a:srgbClr val="D8DED7"/>
                      </a:solidFill>
                      <a:prstDash val="solid"/>
                    </a:lnL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800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补充游戏时长类型</a:t>
                      </a:r>
                      <a:r>
                        <a:rPr lang="en-US" altLang="zh-CN" sz="1800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，</a:t>
                      </a:r>
                      <a:r>
                        <a:rPr lang="zh-CN" altLang="en-US" sz="1800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例如通关</a:t>
                      </a:r>
                      <a:r>
                        <a:rPr lang="zh-CN" altLang="en-US" sz="180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  <a:sym typeface="+mn-ea"/>
                        </a:rPr>
                        <a:t>游玩时长</a:t>
                      </a:r>
                      <a:r>
                        <a:rPr lang="en-US" altLang="zh-CN" sz="180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  <a:sym typeface="+mn-ea"/>
                        </a:rPr>
                        <a:t>、</a:t>
                      </a:r>
                      <a:r>
                        <a:rPr lang="zh-CN" altLang="en-US" sz="1800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全成就</a:t>
                      </a:r>
                      <a:r>
                        <a:rPr lang="zh-CN" altLang="en-US" sz="180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  <a:sym typeface="+mn-ea"/>
                        </a:rPr>
                        <a:t>游玩时长</a:t>
                      </a:r>
                      <a:r>
                        <a:rPr lang="en-US" altLang="zh-CN" sz="180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  <a:sym typeface="+mn-ea"/>
                        </a:rPr>
                        <a:t>、</a:t>
                      </a:r>
                      <a:r>
                        <a:rPr lang="zh-CN" altLang="en-US" sz="1800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中位数游玩</a:t>
                      </a:r>
                      <a:r>
                        <a:rPr lang="zh-CN" altLang="en-US" sz="1800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时长</a:t>
                      </a:r>
                      <a:endParaRPr lang="zh-CN" altLang="en-US" sz="1800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矩形 13"/>
          <p:cNvSpPr>
            <a:spLocks noGrp="1"/>
          </p:cNvSpPr>
          <p:nvPr/>
        </p:nvSpPr>
        <p:spPr>
          <a:xfrm>
            <a:off x="609600" y="457200"/>
            <a:ext cx="109728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72A2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3300" b="1">
                <a:solidFill>
                  <a:srgbClr val="172A2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lang="zh-CN">
                <a:sym typeface="+mn-ea"/>
              </a:rPr>
              <a:t>已完成数据获取</a:t>
            </a:r>
            <a:r>
              <a:rPr lang="en-US" altLang="zh-CN">
                <a:sym typeface="+mn-ea"/>
              </a:rPr>
              <a:t>，</a:t>
            </a:r>
            <a:r>
              <a:rPr lang="zh-CN">
                <a:sym typeface="+mn-ea"/>
              </a:rPr>
              <a:t>各个渠道获取数据</a:t>
            </a:r>
            <a:r>
              <a:rPr lang="zh-CN" sz="3300" b="1">
                <a:solidFill>
                  <a:srgbClr val="172A2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花费</a:t>
            </a:r>
            <a:r>
              <a:rPr lang="zh-CN" altLang="en-US" sz="3300" b="1">
                <a:solidFill>
                  <a:srgbClr val="172A2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约</a:t>
            </a:r>
            <a:r>
              <a:rPr lang="en-US" altLang="zh-CN" sz="3300" b="1">
                <a:solidFill>
                  <a:srgbClr val="172A2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170</a:t>
            </a:r>
            <a:r>
              <a:rPr sz="3300" b="1">
                <a:solidFill>
                  <a:srgbClr val="172A2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小时</a:t>
            </a:r>
            <a:endParaRPr lang="zh-CN" sz="3300" b="1">
              <a:solidFill>
                <a:srgbClr val="172A2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885950"/>
            <a:ext cx="4381500" cy="1952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050" b="1">
                <a:solidFill>
                  <a:srgbClr val="246A5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3050" b="1">
                <a:solidFill>
                  <a:srgbClr val="246A5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3050" b="1">
                <a:solidFill>
                  <a:srgbClr val="246A5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1</a:t>
            </a:r>
            <a:r>
              <a:rPr lang="en-US" sz="13050" b="1">
                <a:solidFill>
                  <a:srgbClr val="246A5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70</a:t>
            </a:r>
            <a:r>
              <a:rPr lang="en-US" sz="7200" b="1">
                <a:solidFill>
                  <a:srgbClr val="246A5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H</a:t>
            </a:r>
            <a:endParaRPr b="0">
              <a:solidFill>
                <a:srgbClr val="172A2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>
              <a:defRPr sz="13050" b="1">
                <a:solidFill>
                  <a:srgbClr val="246A5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endParaRPr sz="13050" b="1">
              <a:solidFill>
                <a:srgbClr val="246A5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04850" y="3943350"/>
            <a:ext cx="35242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000" b="0">
                <a:solidFill>
                  <a:srgbClr val="172A2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3000" b="0">
                <a:solidFill>
                  <a:srgbClr val="172A2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endParaRPr sz="3000" b="0">
              <a:solidFill>
                <a:srgbClr val="172A2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476875" y="1809750"/>
            <a:ext cx="595312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172A2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2175" b="1">
                <a:solidFill>
                  <a:srgbClr val="172A2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175" b="1">
                <a:solidFill>
                  <a:srgbClr val="172A2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脚本编写</a:t>
            </a:r>
            <a:endParaRPr sz="2175" b="1">
              <a:solidFill>
                <a:srgbClr val="172A2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476875" y="2257425"/>
            <a:ext cx="59531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5B6864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800" b="0">
                <a:solidFill>
                  <a:srgbClr val="5B6864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00" b="0">
                <a:solidFill>
                  <a:srgbClr val="5B6864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逐源解析、限速重试、错误识别和任务编排</a:t>
            </a:r>
            <a:endParaRPr sz="1800" b="0">
              <a:solidFill>
                <a:srgbClr val="5B6864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476875" y="2876550"/>
            <a:ext cx="595312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172A2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2175" b="1">
                <a:solidFill>
                  <a:srgbClr val="172A2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175" b="1">
                <a:solidFill>
                  <a:srgbClr val="172A2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数据库定义</a:t>
            </a:r>
            <a:endParaRPr sz="2175" b="1">
              <a:solidFill>
                <a:srgbClr val="172A2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476875" y="3324225"/>
            <a:ext cx="59531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5B6864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800" b="0">
                <a:solidFill>
                  <a:srgbClr val="5B6864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00" b="0">
                <a:solidFill>
                  <a:srgbClr val="5B6864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数据表、索引、视图、队列和配额账本</a:t>
            </a:r>
            <a:endParaRPr sz="1800" b="0">
              <a:solidFill>
                <a:srgbClr val="5B6864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476875" y="3943350"/>
            <a:ext cx="595312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172A2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2175" b="1">
                <a:solidFill>
                  <a:srgbClr val="172A2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175" b="1">
                <a:solidFill>
                  <a:srgbClr val="172A2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数据获取与补抓</a:t>
            </a:r>
            <a:endParaRPr sz="2175" b="1">
              <a:solidFill>
                <a:srgbClr val="172A2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476875" y="4391025"/>
            <a:ext cx="59531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5B6864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800" b="0">
                <a:solidFill>
                  <a:srgbClr val="5B6864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lang="zh-CN" sz="1800" b="0">
                <a:solidFill>
                  <a:srgbClr val="5B6864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全体组员</a:t>
            </a:r>
            <a:r>
              <a:rPr sz="1800" b="0">
                <a:solidFill>
                  <a:srgbClr val="5B6864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多机连续运行</a:t>
            </a:r>
            <a:endParaRPr sz="1800" b="0">
              <a:solidFill>
                <a:srgbClr val="5B6864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476875" y="5229225"/>
            <a:ext cx="59531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5B6864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1800" b="0">
                <a:solidFill>
                  <a:srgbClr val="5B6864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lang="zh-CN" sz="1800" b="0">
                <a:solidFill>
                  <a:srgbClr val="5B6864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从中秋假期前跑到国庆第二天才跑完原始数据</a:t>
            </a:r>
            <a:r>
              <a:rPr lang="en-US" altLang="zh-CN" sz="1800" b="0">
                <a:solidFill>
                  <a:srgbClr val="5B6864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，</a:t>
            </a:r>
            <a:r>
              <a:rPr lang="zh-CN" altLang="en-US" sz="1800" b="0">
                <a:solidFill>
                  <a:srgbClr val="5B6864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目前我们还在尽量找更多的数据补充</a:t>
            </a:r>
            <a:r>
              <a:rPr lang="zh-CN" altLang="en-US" sz="1800" b="0">
                <a:solidFill>
                  <a:srgbClr val="5B6864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进来</a:t>
            </a:r>
            <a:endParaRPr lang="zh-CN" altLang="en-US" sz="1800" b="0">
              <a:solidFill>
                <a:srgbClr val="5B6864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矩形 8"/>
          <p:cNvSpPr>
            <a:spLocks noGrp="1"/>
          </p:cNvSpPr>
          <p:nvPr/>
        </p:nvSpPr>
        <p:spPr>
          <a:xfrm>
            <a:off x="609600" y="457200"/>
            <a:ext cx="109728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72A2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3300" b="1">
                <a:solidFill>
                  <a:srgbClr val="172A2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300" b="1">
                <a:solidFill>
                  <a:srgbClr val="172A2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核心数据表已经累计 3,079,278 行</a:t>
            </a:r>
            <a:endParaRPr sz="3300" b="1">
              <a:solidFill>
                <a:srgbClr val="172A2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628775"/>
            <a:ext cx="10668000" cy="1438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8400" b="1">
                <a:solidFill>
                  <a:srgbClr val="246A5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8400" b="1">
                <a:solidFill>
                  <a:srgbClr val="246A5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8400" b="1">
                <a:solidFill>
                  <a:srgbClr val="246A5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307.9 万</a:t>
            </a:r>
            <a:endParaRPr sz="8400" b="1">
              <a:solidFill>
                <a:srgbClr val="246A5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3286125"/>
            <a:ext cx="101917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625" b="0">
                <a:solidFill>
                  <a:srgbClr val="172A2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2625" b="0">
                <a:solidFill>
                  <a:srgbClr val="172A2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625" b="0">
                <a:solidFill>
                  <a:srgbClr val="172A2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核心数据记录</a:t>
            </a:r>
            <a:endParaRPr sz="2625" b="0">
              <a:solidFill>
                <a:srgbClr val="172A2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4362450"/>
            <a:ext cx="48577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172A2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3150" b="1">
                <a:solidFill>
                  <a:srgbClr val="172A2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150" b="1">
                <a:solidFill>
                  <a:srgbClr val="172A2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50,956 款游戏</a:t>
            </a:r>
            <a:endParaRPr sz="3150" b="1">
              <a:solidFill>
                <a:srgbClr val="172A2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057900" y="4362450"/>
            <a:ext cx="54292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172A2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3150" b="1">
                <a:solidFill>
                  <a:srgbClr val="172A2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150" b="1">
                <a:solidFill>
                  <a:srgbClr val="172A2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1,971,064 条成就</a:t>
            </a:r>
            <a:endParaRPr sz="3150" b="1">
              <a:solidFill>
                <a:srgbClr val="172A2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85800" y="5314950"/>
            <a:ext cx="1038225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172A2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3150" b="1">
                <a:solidFill>
                  <a:srgbClr val="172A2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150" b="1">
                <a:solidFill>
                  <a:srgbClr val="172A2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888,837 条标签关系</a:t>
            </a:r>
            <a:endParaRPr sz="3150" b="1">
              <a:solidFill>
                <a:srgbClr val="172A2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矩形 4"/>
          <p:cNvSpPr>
            <a:spLocks noGrp="1"/>
          </p:cNvSpPr>
          <p:nvPr/>
        </p:nvSpPr>
        <p:spPr>
          <a:xfrm>
            <a:off x="609600" y="457200"/>
            <a:ext cx="109728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72A2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3300" b="1">
                <a:solidFill>
                  <a:srgbClr val="172A2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300" b="1">
                <a:solidFill>
                  <a:srgbClr val="172A2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核心数据表：每张表有多少行</a:t>
            </a:r>
            <a:endParaRPr sz="3300" b="1">
              <a:solidFill>
                <a:srgbClr val="172A2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609600" y="1562100"/>
          <a:ext cx="10972800" cy="4057650"/>
        </p:xfrm>
        <a:graphic>
          <a:graphicData uri="http://schemas.openxmlformats.org/drawingml/2006/table">
            <a:tbl>
              <a:tblPr firstRow="1" lastRow="1"/>
              <a:tblGrid>
                <a:gridCol w="3476625"/>
                <a:gridCol w="2238375"/>
                <a:gridCol w="5257800"/>
              </a:tblGrid>
              <a:tr h="45085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数据表</a:t>
                      </a:r>
                      <a:endParaRPr sz="18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L w="6191">
                      <a:solidFill>
                        <a:srgbClr val="D8DED7"/>
                      </a:solidFill>
                      <a:prstDash val="solid"/>
                    </a:lnL>
                    <a:lnR w="6191">
                      <a:solidFill>
                        <a:srgbClr val="D8DED7"/>
                      </a:solidFill>
                      <a:prstDash val="solid"/>
                    </a:lnR>
                    <a:lnT w="6191">
                      <a:solidFill>
                        <a:srgbClr val="D8DED7"/>
                      </a:solidFill>
                      <a:prstDash val="solid"/>
                    </a:lnT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246A5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行数</a:t>
                      </a:r>
                      <a:endParaRPr sz="18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R w="6191">
                      <a:solidFill>
                        <a:srgbClr val="D8DED7"/>
                      </a:solidFill>
                      <a:prstDash val="solid"/>
                    </a:lnR>
                    <a:lnT w="6191">
                      <a:solidFill>
                        <a:srgbClr val="D8DED7"/>
                      </a:solidFill>
                      <a:prstDash val="solid"/>
                    </a:lnT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246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内容</a:t>
                      </a:r>
                      <a:endParaRPr sz="18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R w="6191">
                      <a:solidFill>
                        <a:srgbClr val="D8DED7"/>
                      </a:solidFill>
                      <a:prstDash val="solid"/>
                    </a:lnR>
                    <a:lnT w="6191">
                      <a:solidFill>
                        <a:srgbClr val="D8DED7"/>
                      </a:solidFill>
                      <a:prstDash val="solid"/>
                    </a:lnT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246A5F"/>
                    </a:solidFill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games</a:t>
                      </a:r>
                      <a:endParaRPr sz="1800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L w="6191">
                      <a:solidFill>
                        <a:srgbClr val="D8DED7"/>
                      </a:solidFill>
                      <a:prstDash val="solid"/>
                    </a:lnL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50,956</a:t>
                      </a:r>
                      <a:endParaRPr sz="1800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游戏主表</a:t>
                      </a:r>
                      <a:endParaRPr sz="1800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store_search_games</a:t>
                      </a:r>
                      <a:endParaRPr sz="1800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L w="6191">
                      <a:solidFill>
                        <a:srgbClr val="D8DED7"/>
                      </a:solidFill>
                      <a:prstDash val="solid"/>
                    </a:lnL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50,956</a:t>
                      </a:r>
                      <a:endParaRPr sz="1800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商店枚举记录</a:t>
                      </a:r>
                      <a:endParaRPr sz="1800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steam_appdetails</a:t>
                      </a:r>
                      <a:endParaRPr sz="1800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L w="6191">
                      <a:solidFill>
                        <a:srgbClr val="D8DED7"/>
                      </a:solidFill>
                      <a:prstDash val="solid"/>
                    </a:lnL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50,954</a:t>
                      </a:r>
                      <a:endParaRPr sz="1800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商店详情</a:t>
                      </a:r>
                      <a:endParaRPr sz="1800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steamspy_games</a:t>
                      </a:r>
                      <a:endParaRPr sz="1800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L w="6191">
                      <a:solidFill>
                        <a:srgbClr val="D8DED7"/>
                      </a:solidFill>
                      <a:prstDash val="solid"/>
                    </a:lnL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50,741</a:t>
                      </a:r>
                      <a:endParaRPr sz="1800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热度与口碑</a:t>
                      </a:r>
                      <a:endParaRPr sz="1800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rawg_games</a:t>
                      </a:r>
                      <a:endParaRPr sz="1800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L w="6191">
                      <a:solidFill>
                        <a:srgbClr val="D8DED7"/>
                      </a:solidFill>
                      <a:prstDash val="solid"/>
                    </a:lnL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15,770</a:t>
                      </a:r>
                      <a:endParaRPr sz="1800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评分、时长与状态</a:t>
                      </a:r>
                      <a:endParaRPr sz="1800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achievements</a:t>
                      </a:r>
                      <a:endParaRPr sz="1800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L w="6191">
                      <a:solidFill>
                        <a:srgbClr val="D8DED7"/>
                      </a:solidFill>
                      <a:prstDash val="solid"/>
                    </a:lnL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1,971,064</a:t>
                      </a:r>
                      <a:endParaRPr sz="1800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成就及完成率</a:t>
                      </a:r>
                      <a:endParaRPr sz="1800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game_tags</a:t>
                      </a:r>
                      <a:endParaRPr sz="1800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L w="6191">
                      <a:solidFill>
                        <a:srgbClr val="D8DED7"/>
                      </a:solidFill>
                      <a:prstDash val="solid"/>
                    </a:lnL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888,837</a:t>
                      </a:r>
                      <a:endParaRPr sz="1800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游戏与标签关系</a:t>
                      </a:r>
                      <a:endParaRPr sz="1800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核心数据合计</a:t>
                      </a:r>
                      <a:endParaRPr sz="1800" b="1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L w="6191">
                      <a:solidFill>
                        <a:srgbClr val="D8DED7"/>
                      </a:solidFill>
                      <a:prstDash val="solid"/>
                    </a:lnL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E2E9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1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3,079,278</a:t>
                      </a:r>
                      <a:endParaRPr sz="1800" b="1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E2E9D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以上7张表行数之和</a:t>
                      </a:r>
                      <a:endParaRPr sz="1800" b="1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E2E9D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矩形 4"/>
          <p:cNvSpPr>
            <a:spLocks noGrp="1"/>
          </p:cNvSpPr>
          <p:nvPr/>
        </p:nvSpPr>
        <p:spPr>
          <a:xfrm>
            <a:off x="609600" y="457200"/>
            <a:ext cx="109728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72A2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>
              <a:defRPr sz="3300" b="1">
                <a:solidFill>
                  <a:srgbClr val="172A2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lang="zh-CN" altLang="en-US" sz="3300" b="1">
                <a:solidFill>
                  <a:srgbClr val="172A2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论文</a:t>
            </a:r>
            <a:r>
              <a:rPr lang="zh-CN" altLang="en-US" sz="3300" b="1">
                <a:solidFill>
                  <a:srgbClr val="172A2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参考</a:t>
            </a:r>
            <a:endParaRPr lang="zh-CN" altLang="en-US" sz="3300" b="1">
              <a:solidFill>
                <a:srgbClr val="172A2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575310" y="1076325"/>
          <a:ext cx="10948670" cy="5631180"/>
        </p:xfrm>
        <a:graphic>
          <a:graphicData uri="http://schemas.openxmlformats.org/drawingml/2006/table">
            <a:tbl>
              <a:tblPr firstRow="1" lastRow="1"/>
              <a:tblGrid>
                <a:gridCol w="5619115"/>
                <a:gridCol w="5329555"/>
              </a:tblGrid>
              <a:tr h="450850">
                <a:tc>
                  <a:txBody>
                    <a:bodyPr/>
                    <a:lstStyle/>
                    <a:p>
                      <a:pPr algn="l"/>
                      <a:r>
                        <a:rPr lang="zh-CN" sz="18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论文</a:t>
                      </a:r>
                      <a:endParaRPr lang="zh-CN" sz="18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L w="6191">
                      <a:solidFill>
                        <a:srgbClr val="D8DED7"/>
                      </a:solidFill>
                      <a:prstDash val="solid"/>
                    </a:lnL>
                    <a:lnR w="6191">
                      <a:solidFill>
                        <a:srgbClr val="D8DED7"/>
                      </a:solidFill>
                      <a:prstDash val="solid"/>
                    </a:lnR>
                    <a:lnT w="6191">
                      <a:solidFill>
                        <a:srgbClr val="D8DED7"/>
                      </a:solidFill>
                      <a:prstDash val="solid"/>
                    </a:lnT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246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8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总结</a:t>
                      </a:r>
                      <a:endParaRPr lang="zh-CN" sz="18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R w="6191">
                      <a:solidFill>
                        <a:srgbClr val="D8DED7"/>
                      </a:solidFill>
                      <a:prstDash val="solid"/>
                    </a:lnR>
                    <a:lnT w="6191">
                      <a:solidFill>
                        <a:srgbClr val="D8DED7"/>
                      </a:solidFill>
                      <a:prstDash val="solid"/>
                    </a:lnT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246A5F"/>
                    </a:solidFill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Complexity of Popularity and Dynamics of Within-Game Achievements in Computer Games</a:t>
                      </a:r>
                      <a:endParaRPr lang="en-US" altLang="zh-CN" sz="1800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L w="6191">
                      <a:solidFill>
                        <a:srgbClr val="D8DED7"/>
                      </a:solidFill>
                      <a:prstDash val="solid"/>
                    </a:lnL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把 「解锁成就数」当作玩家坚持度（</a:t>
                      </a:r>
                      <a:r>
                        <a:rPr lang="en-US" altLang="zh-CN" sz="1800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persistence）</a:t>
                      </a:r>
                      <a:r>
                        <a:rPr lang="zh-CN" altLang="en-US" sz="1800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的度量，然后拟合分布</a:t>
                      </a:r>
                      <a:endParaRPr lang="zh-CN" altLang="en-US" sz="1800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An analysis of achievement completion rate of open world role-playing games through a new taxonomic method</a:t>
                      </a:r>
                      <a:endParaRPr lang="en-US" altLang="zh-CN" sz="1800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L w="6191">
                      <a:solidFill>
                        <a:srgbClr val="D8DED7"/>
                      </a:solidFill>
                      <a:prstDash val="solid"/>
                    </a:lnL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提出一个新分类法：「成就如何被触发」</a:t>
                      </a:r>
                      <a:r>
                        <a:rPr lang="en-US" altLang="zh-CN" sz="1800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，</a:t>
                      </a:r>
                      <a:r>
                        <a:rPr lang="zh-CN" altLang="en-US" sz="1800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用这个分类法研究完成率与其他因素的关系</a:t>
                      </a:r>
                      <a:endParaRPr lang="zh-CN" altLang="en-US" sz="1800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  <a:p>
                      <a:pPr algn="l"/>
                      <a:endParaRPr lang="en-US" altLang="zh-CN" sz="1800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Analyzing Video Game Completion Achievements: Implications for Game Project Scope</a:t>
                      </a:r>
                      <a:endParaRPr lang="en-US" altLang="zh-CN" sz="1800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L w="6191">
                      <a:solidFill>
                        <a:srgbClr val="D8DED7"/>
                      </a:solidFill>
                      <a:prstDash val="solid"/>
                    </a:lnL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人工标注一批 "标志着玩家通关主线内容" 的成就（</a:t>
                      </a:r>
                      <a:r>
                        <a:rPr lang="en-US" altLang="zh-CN" sz="1800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completion achievements），</a:t>
                      </a:r>
                      <a:r>
                        <a:rPr lang="zh-CN" altLang="en-US" sz="1800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挖掘完成率趋势</a:t>
                      </a:r>
                      <a:endParaRPr lang="zh-CN" altLang="en-US" sz="1800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A statistical analysis of Steam user profiles towards personalized gamification</a:t>
                      </a:r>
                      <a:endParaRPr lang="en-US" altLang="zh-CN" sz="1800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L w="6191">
                      <a:solidFill>
                        <a:srgbClr val="D8DED7"/>
                      </a:solidFill>
                      <a:prstDash val="solid"/>
                    </a:lnL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800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大规模随机爬取</a:t>
                      </a:r>
                      <a:r>
                        <a:rPr lang="en-US" altLang="zh-CN" sz="1800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Steam</a:t>
                      </a:r>
                      <a:r>
                        <a:rPr lang="zh-CN" altLang="en-US" sz="1800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玩家信息并且分成</a:t>
                      </a:r>
                      <a:r>
                        <a:rPr lang="en-US" altLang="zh-CN" sz="1800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8</a:t>
                      </a:r>
                      <a:r>
                        <a:rPr lang="zh-CN" altLang="en-US" sz="1800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类</a:t>
                      </a:r>
                      <a:r>
                        <a:rPr lang="en-US" altLang="zh-CN" sz="1800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，</a:t>
                      </a:r>
                      <a:r>
                        <a:rPr lang="zh-CN" altLang="en-US" sz="1800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例如精英</a:t>
                      </a:r>
                      <a:r>
                        <a:rPr lang="en-US" altLang="zh-CN" sz="1800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、</a:t>
                      </a:r>
                      <a:r>
                        <a:rPr lang="zh-CN" altLang="en-US" sz="1800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通关者</a:t>
                      </a:r>
                      <a:r>
                        <a:rPr lang="zh-CN" altLang="en-US" sz="1800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等</a:t>
                      </a:r>
                      <a:endParaRPr lang="zh-CN" altLang="en-US" sz="1800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PlayMyData: a curated dataset of multi-platform video games</a:t>
                      </a:r>
                      <a:endParaRPr lang="en-US" altLang="zh-CN" sz="1800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L w="6191">
                      <a:solidFill>
                        <a:srgbClr val="D8DED7"/>
                      </a:solidFill>
                      <a:prstDash val="solid"/>
                    </a:lnL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从</a:t>
                      </a:r>
                      <a:r>
                        <a:rPr lang="en-US" sz="1800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IGDB</a:t>
                      </a:r>
                      <a:r>
                        <a:rPr lang="zh-CN" altLang="en-US" sz="1800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构建数据集</a:t>
                      </a:r>
                      <a:r>
                        <a:rPr lang="en-US" altLang="zh-CN" sz="1800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（</a:t>
                      </a:r>
                      <a:r>
                        <a:rPr lang="zh-CN" altLang="en-US" sz="1800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国内获取条件苛刻</a:t>
                      </a:r>
                      <a:r>
                        <a:rPr lang="en-US" altLang="zh-CN" sz="1800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），</a:t>
                      </a:r>
                      <a:r>
                        <a:rPr lang="zh-CN" altLang="en-US" sz="1800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补充</a:t>
                      </a:r>
                      <a:r>
                        <a:rPr lang="zh-CN" altLang="en-US" sz="1800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了通关</a:t>
                      </a:r>
                      <a:r>
                        <a:rPr lang="zh-CN" altLang="en-US" sz="180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  <a:sym typeface="+mn-ea"/>
                        </a:rPr>
                        <a:t>游玩时长</a:t>
                      </a:r>
                      <a:r>
                        <a:rPr lang="en-US" altLang="zh-CN" sz="1800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，</a:t>
                      </a:r>
                      <a:r>
                        <a:rPr lang="zh-CN" altLang="en-US" sz="1800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全成就</a:t>
                      </a:r>
                      <a:r>
                        <a:rPr lang="zh-CN" altLang="en-US" sz="180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  <a:sym typeface="+mn-ea"/>
                        </a:rPr>
                        <a:t>游玩时长</a:t>
                      </a:r>
                      <a:r>
                        <a:rPr lang="en-US" altLang="zh-CN" sz="1800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，</a:t>
                      </a:r>
                      <a:r>
                        <a:rPr lang="zh-CN" altLang="en-US" sz="1800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平均游玩时长</a:t>
                      </a:r>
                      <a:r>
                        <a:rPr lang="en-US" altLang="zh-CN" sz="1800" b="0">
                          <a:solidFill>
                            <a:srgbClr val="172A2A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。</a:t>
                      </a:r>
                      <a:endParaRPr lang="en-US" altLang="zh-CN" sz="1800" b="0">
                        <a:solidFill>
                          <a:srgbClr val="172A2A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33350" marR="133350" marT="76200" marB="76200" anchor="ctr">
                    <a:lnR w="6191">
                      <a:solidFill>
                        <a:srgbClr val="D8DED7"/>
                      </a:solidFill>
                      <a:prstDash val="solid"/>
                    </a:lnR>
                    <a:lnB w="6191">
                      <a:solidFill>
                        <a:srgbClr val="D8DED7"/>
                      </a:solidFill>
                      <a:prstDash val="solid"/>
                    </a:lnB>
                    <a:solidFill>
                      <a:srgbClr val="F4F2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矩形 4"/>
          <p:cNvSpPr>
            <a:spLocks noGrp="1"/>
          </p:cNvSpPr>
          <p:nvPr/>
        </p:nvSpPr>
        <p:spPr>
          <a:xfrm>
            <a:off x="609600" y="2421255"/>
            <a:ext cx="109728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72A2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</a:lstStyle>
          <a:p>
            <a:pPr algn="ctr">
              <a:defRPr sz="3300" b="1">
                <a:solidFill>
                  <a:srgbClr val="172A2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lang="zh-CN" altLang="en-US" sz="5400" b="1">
                <a:solidFill>
                  <a:srgbClr val="172A2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汇报完毕</a:t>
            </a:r>
            <a:endParaRPr lang="zh-CN" altLang="en-US" sz="5400" b="1">
              <a:solidFill>
                <a:srgbClr val="172A2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ctr">
              <a:defRPr sz="3300" b="1">
                <a:solidFill>
                  <a:srgbClr val="172A2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lang="zh-CN" altLang="en-US" sz="5400" b="1">
                <a:solidFill>
                  <a:srgbClr val="172A2A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谢谢大家</a:t>
            </a:r>
            <a:endParaRPr lang="zh-CN" altLang="en-US" sz="5400" b="1">
              <a:solidFill>
                <a:srgbClr val="172A2A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1608</Words>
  <Application>WPS 演示</Application>
  <PresentationFormat>Converted Presentation</PresentationFormat>
  <Paragraphs>226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9" baseType="lpstr">
      <vt:lpstr>Arial</vt:lpstr>
      <vt:lpstr>宋体</vt:lpstr>
      <vt:lpstr>Wingdings</vt:lpstr>
      <vt:lpstr>Hiragino Sans GB</vt:lpstr>
      <vt:lpstr>微软雅黑</vt:lpstr>
      <vt:lpstr>方正雅意黑 GB18030L2</vt:lpstr>
      <vt:lpstr>Arial Unicode MS</vt:lpstr>
      <vt:lpstr>Aptos</vt:lpstr>
      <vt:lpstr>Helvetica Neue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王文海</cp:lastModifiedBy>
  <cp:revision>44</cp:revision>
  <dcterms:created xsi:type="dcterms:W3CDTF">2026-10-14T12:52:52Z</dcterms:created>
  <dcterms:modified xsi:type="dcterms:W3CDTF">2026-10-14T12:52:52Z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A73E244929757709DAA9CD6AC2B24E7D_42</vt:lpwstr>
  </property>
  <property fmtid="{D5CDD505-2E9C-101B-9397-08002B2CF9AE}" pid="3" name="KSOProductBuildVer">
    <vt:lpwstr>2052-12.1.28496.28496</vt:lpwstr>
  </property>
</Properties>
</file>