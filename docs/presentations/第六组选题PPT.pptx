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68" r:id="rId5"/>
    <p:sldId id="259" r:id="rId6"/>
    <p:sldId id="257" r:id="rId7"/>
    <p:sldId id="262" r:id="rId8"/>
    <p:sldId id="263" r:id="rId9"/>
    <p:sldId id="269" r:id="rId10"/>
    <p:sldId id="270" r:id="rId11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本次汇报重点是数据工程的实际投入与成果，以及最新版计划中的下一步方向。168小时来自汇报者对脚本编写、数据库定义和数据获取的个人估算，不是自动记录的精确工时。</a:t>
            </a:r>
          </a:p>
          <a:p/>
          <a:p>
            <a:r>
              <a:t>来源：用户本次说明；/Users/Learning/course/achievement-analytics/docs/plan.md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6.xml"/><Relationship Id="rId2" Type="http://schemas.openxmlformats.org/officeDocument/2006/relationships/hyperlink" Target="https://www.soyorinlove.cn" TargetMode="External"/><Relationship Id="rId1" Type="http://schemas.openxmlformats.org/officeDocument/2006/relationships/hyperlink" Target="https://github.com/WwhdsOne/achievement-analytics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B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609600" y="908685"/>
            <a:ext cx="108585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57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57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48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基于游戏特征与成就数据的分析</a:t>
            </a:r>
            <a:endParaRPr lang="zh-CN" altLang="en-US" sz="48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6237605"/>
            <a:ext cx="952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课程项目阶段汇报     2026 年 10 月</a:t>
            </a:r>
            <a:endParaRPr sz="1800" b="0">
              <a:solidFill>
                <a:srgbClr val="BDD0C8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23570" y="312039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组长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：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王文海</a:t>
            </a:r>
            <a:endParaRPr lang="zh-CN" altLang="en-US" sz="42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393255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组员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：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刘宇翔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、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杨金辉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、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耶美田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、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朱政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宇</a:t>
            </a:r>
            <a:endParaRPr lang="zh-CN" altLang="en-US" sz="42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23570" y="4874260"/>
            <a:ext cx="10492105" cy="467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24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项目仓库</a:t>
            </a:r>
            <a:r>
              <a:rPr lang="en-US" altLang="zh-CN" sz="24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：</a:t>
            </a:r>
            <a:r>
              <a:rPr lang="en-US" altLang="zh-CN" sz="20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  <a:hlinkClick r:id="rId1" action="ppaction://hlinkfile"/>
              </a:rPr>
              <a:t>https://github.com/WwhdsOne/achievement-analytics</a:t>
            </a:r>
            <a:endParaRPr lang="en-US" altLang="zh-CN" sz="20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1" action="ppaction://hlinkfile"/>
            </a:endParaRPr>
          </a:p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lang="zh-CN" altLang="en-US" sz="20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1" action="ppaction://hlinkfile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5483225"/>
            <a:ext cx="10492105" cy="467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24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项目</a:t>
            </a:r>
            <a:r>
              <a:rPr lang="zh-CN" altLang="en-US" sz="24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体验地址</a:t>
            </a:r>
            <a:r>
              <a:rPr lang="en-US" altLang="zh-CN" sz="24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：</a:t>
            </a:r>
            <a:r>
              <a:rPr lang="en-US" altLang="zh-CN" sz="24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  <a:hlinkClick r:id="rId2" action="ppaction://hlinkfile"/>
              </a:rPr>
              <a:t>https://www.soyorinlove.cn</a:t>
            </a:r>
            <a:endParaRPr lang="en-US" altLang="zh-CN" sz="24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2" action="ppaction://hlinkfile"/>
            </a:endParaRPr>
          </a:p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lang="en-US" altLang="zh-CN" sz="20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1" action="ppaction://hlinkfile"/>
            </a:endParaRPr>
          </a:p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lang="zh-CN" altLang="en-US" sz="20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1" action="ppaction://hlinkfil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当前目标</a:t>
            </a:r>
            <a:r>
              <a:rPr lang="en-US" alt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：</a:t>
            </a: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分析游戏数据</a:t>
            </a:r>
            <a:r>
              <a:rPr lang="en-US" alt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，</a:t>
            </a: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包含</a:t>
            </a: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五</a:t>
            </a: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个方向</a:t>
            </a:r>
            <a:endParaRPr lang="zh-CN"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619250"/>
          <a:ext cx="10972800" cy="4141470"/>
        </p:xfrm>
        <a:graphic>
          <a:graphicData uri="http://schemas.openxmlformats.org/drawingml/2006/table">
            <a:tbl>
              <a:tblPr firstRow="1"/>
              <a:tblGrid>
                <a:gridCol w="3572510"/>
                <a:gridCol w="1094740"/>
                <a:gridCol w="2051450"/>
                <a:gridCol w="4000500"/>
              </a:tblGrid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方向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优先级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执行人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预期产出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发售年份与</a:t>
                      </a:r>
                      <a:r>
                        <a:rPr lang="zh-CN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潮流</a:t>
                      </a:r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类型演变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杨金辉</a:t>
                      </a:r>
                      <a:endParaRPr lang="zh-CN" altLang="en-US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年度趋势与热力图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游戏画像聚类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扩展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耶美田</a:t>
                      </a:r>
                      <a:endParaRPr lang="zh-CN" altLang="en-US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游戏类别与代表作品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可解释推荐</a:t>
                      </a:r>
                      <a:endParaRPr lang="en-US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朱政</a:t>
                      </a:r>
                      <a:r>
                        <a:rPr lang="zh-CN" altLang="en-US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宇</a:t>
                      </a:r>
                      <a:endParaRPr lang="zh-CN" altLang="en-US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相似游戏与推荐理由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lang="zh-CN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实际</a:t>
                      </a:r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完成曲线与</a:t>
                      </a:r>
                      <a:r>
                        <a:rPr lang="zh-CN" sz="1725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  <a:sym typeface="+mn-ea"/>
                        </a:rPr>
                        <a:t>游戏用户粘性分析</a:t>
                      </a:r>
                      <a:endParaRPr lang="zh-CN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</a:t>
                      </a:r>
                      <a:endParaRPr lang="zh-CN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王文海</a:t>
                      </a:r>
                      <a:r>
                        <a:rPr lang="zh-CN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、刘宇</a:t>
                      </a:r>
                      <a:r>
                        <a:rPr lang="zh-CN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翔</a:t>
                      </a:r>
                      <a:endParaRPr lang="zh-CN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  <a:sym typeface="+mn-ea"/>
                        </a:rPr>
                        <a:t>关键主线节点完成率</a:t>
                      </a:r>
                      <a:endParaRPr lang="zh-CN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  <a:p>
                      <a:pPr algn="l"/>
                      <a:r>
                        <a:rPr lang="zh-CN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、</a:t>
                      </a:r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内容分类与跨平台对照</a:t>
                      </a:r>
                      <a:endParaRPr lang="zh-CN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游戏口碑预测与关联因素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扩展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王文海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预测评估与相关因素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七</a:t>
            </a: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类逐款数据源，</a:t>
            </a: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组合</a:t>
            </a: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一份游戏档案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6381750"/>
            <a:ext cx="9715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商店中英文详情是两次独立请求，通常写入同一商店详情表及游戏名称字段。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657350"/>
          <a:ext cx="10972800" cy="4550410"/>
        </p:xfrm>
        <a:graphic>
          <a:graphicData uri="http://schemas.openxmlformats.org/drawingml/2006/table">
            <a:tbl>
              <a:tblPr firstRow="1"/>
              <a:tblGrid>
                <a:gridCol w="3143250"/>
                <a:gridCol w="7829550"/>
              </a:tblGrid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逐款源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关键内容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英文商店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名称、价格、发售日、类型、开发商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中文商店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官方中文名称与本地化详情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全局成就率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每项成就的全局解锁比例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社区成就页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成就展示名与描述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SteamSpy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标签、拥有量估算、在线量、好评与差评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RAWG</a:t>
                      </a:r>
                      <a:r>
                        <a:rPr 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（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仅部分游戏获取</a:t>
                      </a:r>
                      <a:r>
                        <a:rPr 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）</a:t>
                      </a:r>
                      <a:endParaRPr lang="en-US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评分、时长、通关及弃坑状态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PlayMyData</a:t>
                      </a:r>
                      <a:endParaRPr lang="en-US" altLang="en-US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补充游戏时长类型</a:t>
                      </a:r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，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例如通关</a:t>
                      </a:r>
                      <a:r>
                        <a:rPr lang="zh-CN" altLang="en-US" sz="180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  <a:sym typeface="+mn-ea"/>
                        </a:rPr>
                        <a:t>游玩时长</a:t>
                      </a:r>
                      <a:r>
                        <a:rPr lang="en-US" altLang="zh-CN" sz="180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  <a:sym typeface="+mn-ea"/>
                        </a:rPr>
                        <a:t>、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全成就</a:t>
                      </a:r>
                      <a:r>
                        <a:rPr lang="zh-CN" altLang="en-US" sz="180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  <a:sym typeface="+mn-ea"/>
                        </a:rPr>
                        <a:t>游玩时长</a:t>
                      </a:r>
                      <a:r>
                        <a:rPr lang="en-US" altLang="zh-CN" sz="180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  <a:sym typeface="+mn-ea"/>
                        </a:rPr>
                        <a:t>、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中位数游玩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时长</a:t>
                      </a:r>
                      <a:endParaRPr lang="zh-CN" altLang="en-US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矩形 13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>
                <a:sym typeface="+mn-ea"/>
              </a:rPr>
              <a:t>已完成数据获取</a:t>
            </a:r>
            <a:r>
              <a:rPr lang="en-US" altLang="zh-CN">
                <a:sym typeface="+mn-ea"/>
              </a:rPr>
              <a:t>，</a:t>
            </a:r>
            <a:r>
              <a:rPr lang="zh-CN">
                <a:sym typeface="+mn-ea"/>
              </a:rPr>
              <a:t>各个渠道获取数据</a:t>
            </a: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花费</a:t>
            </a:r>
            <a:r>
              <a:rPr lang="zh-CN" altLang="en-US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约</a:t>
            </a:r>
            <a:r>
              <a:rPr lang="en-US" alt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170</a:t>
            </a: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小时</a:t>
            </a:r>
            <a:endParaRPr lang="zh-CN"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885950"/>
            <a:ext cx="438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</a:t>
            </a:r>
            <a:r>
              <a:rPr lang="en-US"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70</a:t>
            </a:r>
            <a:r>
              <a:rPr lang="en-US" sz="72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H</a:t>
            </a:r>
            <a:endParaRPr b="0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def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sz="13050" b="1">
              <a:solidFill>
                <a:srgbClr val="246A5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04850" y="3943350"/>
            <a:ext cx="35242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000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000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sz="3000" b="0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476875" y="1809750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脚本编写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476875" y="22574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逐源解析、限速重试、错误识别和任务编排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476875" y="2876550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数据库定义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476875" y="33242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数据表、索引、视图、队列和配额账本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476875" y="3943350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数据获取与补抓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476875" y="43910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全体组员</a:t>
            </a: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多机连续运行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476875" y="52292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从中秋假期前跑到国庆第二天才跑完原始数据</a:t>
            </a:r>
            <a:r>
              <a:rPr lang="en-US" altLang="zh-CN"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，</a:t>
            </a:r>
            <a:r>
              <a:rPr lang="zh-CN" altLang="en-US"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目前我们还在尽量找更多的数据补充</a:t>
            </a:r>
            <a:r>
              <a:rPr lang="zh-CN" altLang="en-US"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进来</a:t>
            </a:r>
            <a:endParaRPr lang="zh-CN" altLang="en-US"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矩形 8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核心数据表已经累计 3,079,278 行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628775"/>
            <a:ext cx="10668000" cy="1438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84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84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84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307.9 万</a:t>
            </a:r>
            <a:endParaRPr sz="8400" b="1">
              <a:solidFill>
                <a:srgbClr val="246A5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3286125"/>
            <a:ext cx="101917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625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625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625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核心数据记录</a:t>
            </a:r>
            <a:endParaRPr sz="2625" b="0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4362450"/>
            <a:ext cx="4857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50,956 款游戏</a:t>
            </a:r>
            <a:endParaRPr sz="315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57900" y="4362450"/>
            <a:ext cx="54292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1,971,064 条成就</a:t>
            </a:r>
            <a:endParaRPr sz="315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85800" y="5314950"/>
            <a:ext cx="103822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888,837 条标签关系</a:t>
            </a:r>
            <a:endParaRPr sz="315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核心数据表：每张表有多少行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562100"/>
          <a:ext cx="10972800" cy="4057650"/>
        </p:xfrm>
        <a:graphic>
          <a:graphicData uri="http://schemas.openxmlformats.org/drawingml/2006/table">
            <a:tbl>
              <a:tblPr firstRow="1" lastRow="1"/>
              <a:tblGrid>
                <a:gridCol w="3476625"/>
                <a:gridCol w="2238375"/>
                <a:gridCol w="5257800"/>
              </a:tblGrid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数据表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行数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内容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50,956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游戏主表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store_search_games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50,956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商店枚举记录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steam_appdetails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50,954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商店详情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steamspy_games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50,741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热度与口碑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rawg_games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15,770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评分、时长与状态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achievements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1,971,064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成就及完成率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game_tags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888,837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游戏与标签关系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核心数据合计</a:t>
                      </a:r>
                      <a:endParaRPr sz="1800" b="1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E2E9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3,079,278</a:t>
                      </a:r>
                      <a:endParaRPr sz="1800" b="1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E2E9D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以上7张表行数之和</a:t>
                      </a:r>
                      <a:endParaRPr sz="1800" b="1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E2E9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论文</a:t>
            </a:r>
            <a:r>
              <a:rPr lang="zh-CN" altLang="en-US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参考</a:t>
            </a:r>
            <a:endParaRPr lang="zh-CN" altLang="en-US"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575310" y="1076325"/>
          <a:ext cx="10948670" cy="5631180"/>
        </p:xfrm>
        <a:graphic>
          <a:graphicData uri="http://schemas.openxmlformats.org/drawingml/2006/table">
            <a:tbl>
              <a:tblPr firstRow="1" lastRow="1"/>
              <a:tblGrid>
                <a:gridCol w="5619115"/>
                <a:gridCol w="5329555"/>
              </a:tblGrid>
              <a:tr h="450850">
                <a:tc>
                  <a:txBody>
                    <a:bodyPr/>
                    <a:lstStyle/>
                    <a:p>
                      <a:pPr algn="l"/>
                      <a:r>
                        <a:rPr lang="zh-CN"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论文</a:t>
                      </a:r>
                      <a:endParaRPr lang="zh-CN"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总结</a:t>
                      </a:r>
                      <a:endParaRPr lang="zh-CN"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Complexity of Popularity and Dynamics of Within-Game Achievements in Computer Games</a:t>
                      </a:r>
                      <a:endParaRPr lang="en-US" altLang="zh-CN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把 「解锁成就数」当作玩家坚持度（</a:t>
                      </a:r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persistence）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的度量，然后拟合分布</a:t>
                      </a:r>
                      <a:endParaRPr lang="zh-CN" altLang="en-US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An analysis of achievement completion rate of open world role-playing games through a new taxonomic method</a:t>
                      </a:r>
                      <a:endParaRPr lang="en-US" altLang="zh-CN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提出一个新分类法：「成就如何被触发」</a:t>
                      </a:r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，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用这个分类法研究完成率与其他因素的关系</a:t>
                      </a:r>
                      <a:endParaRPr lang="zh-CN" altLang="en-US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  <a:p>
                      <a:pPr algn="l"/>
                      <a:endParaRPr lang="en-US" altLang="zh-CN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Analyzing Video Game Completion Achievements: Implications for Game Project Scope</a:t>
                      </a:r>
                      <a:endParaRPr lang="en-US" altLang="zh-CN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人工标注一批 "标志着玩家通关主线内容" 的成就（</a:t>
                      </a:r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completion achievements），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挖掘完成率趋势</a:t>
                      </a:r>
                      <a:endParaRPr lang="zh-CN" altLang="en-US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A statistical analysis of Steam user profiles towards personalized gamification</a:t>
                      </a:r>
                      <a:endParaRPr lang="en-US" altLang="zh-CN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大规模随机爬取</a:t>
                      </a:r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玩家信息并且分成</a:t>
                      </a:r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8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类</a:t>
                      </a:r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，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例如精英</a:t>
                      </a:r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、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通关者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等</a:t>
                      </a:r>
                      <a:endParaRPr lang="zh-CN" altLang="en-US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PlayMyData: a curated dataset of multi-platform video games</a:t>
                      </a:r>
                      <a:endParaRPr lang="en-US" altLang="zh-CN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从</a:t>
                      </a:r>
                      <a:r>
                        <a:rPr 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IGDB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构建数据集</a:t>
                      </a:r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（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国内获取条件苛刻</a:t>
                      </a:r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），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补充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了通关</a:t>
                      </a:r>
                      <a:r>
                        <a:rPr lang="zh-CN" altLang="en-US" sz="180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  <a:sym typeface="+mn-ea"/>
                        </a:rPr>
                        <a:t>游玩时长</a:t>
                      </a:r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，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全成就</a:t>
                      </a:r>
                      <a:r>
                        <a:rPr lang="zh-CN" altLang="en-US" sz="180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  <a:sym typeface="+mn-ea"/>
                        </a:rPr>
                        <a:t>游玩时长</a:t>
                      </a:r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，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平均游玩时长</a:t>
                      </a:r>
                      <a:r>
                        <a:rPr lang="en-US" altLang="zh-CN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。</a:t>
                      </a:r>
                      <a:endParaRPr lang="en-US" altLang="zh-CN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>
            <a:spLocks noGrp="1"/>
          </p:cNvSpPr>
          <p:nvPr/>
        </p:nvSpPr>
        <p:spPr>
          <a:xfrm>
            <a:off x="609600" y="2421255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 algn="ctr"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54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汇报完毕</a:t>
            </a:r>
            <a:endParaRPr lang="zh-CN" altLang="en-US" sz="54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 algn="ctr"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54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谢谢大家</a:t>
            </a:r>
            <a:endParaRPr lang="zh-CN" altLang="en-US" sz="54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1601</Words>
  <Application>WPS 表格</Application>
  <PresentationFormat>Converted Presentation</PresentationFormat>
  <Paragraphs>219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9" baseType="lpstr">
      <vt:lpstr>Arial</vt:lpstr>
      <vt:lpstr>宋体</vt:lpstr>
      <vt:lpstr>Wingdings</vt:lpstr>
      <vt:lpstr>Hiragino Sans GB</vt:lpstr>
      <vt:lpstr>微软雅黑</vt:lpstr>
      <vt:lpstr>方正雅意黑 GB18030L2</vt:lpstr>
      <vt:lpstr>Arial Unicode MS</vt:lpstr>
      <vt:lpstr>Aptos</vt:lpstr>
      <vt:lpstr>Helvetica Neue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wwhds</cp:lastModifiedBy>
  <cp:revision>49</cp:revision>
  <dcterms:created xsi:type="dcterms:W3CDTF">2026-10-16T03:21:42Z</dcterms:created>
  <dcterms:modified xsi:type="dcterms:W3CDTF">2026-10-16T03:21:42Z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A73E244929757709DAA9CD6AC2B24E7D_42</vt:lpwstr>
  </property>
  <property fmtid="{D5CDD505-2E9C-101B-9397-08002B2CF9AE}" pid="3" name="KSOProductBuildVer">
    <vt:lpwstr>2052-12.1.28496.28496</vt:lpwstr>
  </property>
</Properties>
</file>