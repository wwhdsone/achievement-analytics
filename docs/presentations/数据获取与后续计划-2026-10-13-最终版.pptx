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9" r:id="rId5"/>
    <p:sldId id="257" r:id="rId6"/>
    <p:sldId id="262" r:id="rId7"/>
    <p:sldId id="263" r:id="rId8"/>
    <p:sldId id="268" r:id="rId9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本次汇报重点是数据工程的实际投入与成果，以及最新版计划中的下一步方向。168小时来自汇报者对脚本编写、数据库定义和数据获取的个人估算，不是自动记录的精确工时。</a:t>
            </a:r>
          </a:p>
          <a:p/>
          <a:p>
            <a:r>
              <a:t>来源：用户本次说明；/Users/Learning/course/achievement-analytics/docs/plan.md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六个逐款源包括appdetails_en、appdetails_zh、global_ach、community_ach、steamspy、rawg。批量枚举另有store_search、store_applist、steamspy_all。SteamSpy平均与中位时长字段已失效，时长展示必须使用有效的RAWG字段。</a:t>
            </a:r>
          </a:p>
          <a:p/>
          <a:p>
            <a:r>
              <a:t>来源：/Users/Learning/course/achievement-analytics/AGENTS.md；/Users/Learning/course/achievement-analytics/docs/sources.md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这里表达个人累计工作投入。实际采集记录跨2026年9月18日至10月1日，采集窗口和人工投入不是同一个时间概念。不要把168小时说成系统跑完所需时间，也不要人为拆分各环节工时。</a:t>
            </a:r>
          </a:p>
          <a:p/>
          <a:p>
            <a:r>
              <a:t>来源：用户本次说明；/Users/Learning/course/achievement-analytics/AGENTS.md；/Users/Learning/course/achievement-analytics/docs/data-report.md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核心数据表定义为games、store_search_games、steam_appdetails、steamspy_games、rawg_games、achievements、game_tags。它们总计3079278行。这里不计任务队列、日志与额度账本。全部15张表合计3639894行，后续表格逐一列明。</a:t>
            </a:r>
          </a:p>
          <a:p/>
          <a:p>
            <a:r>
              <a:t>来源：共享 PostgreSQL 只读一致性统计，2026-10-13 11:32（北京时间）。统计读取现有15张基础表，不统计视图，不读取密钥明文。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这是7张核心数据表的完整行数。games与store_search_games行数相同，但角色不同，应各列一次。achievements包括每项成就的完成率、展示名等字段，一行不是一个玩家。</a:t>
            </a:r>
          </a:p>
          <a:p/>
          <a:p>
            <a:r>
              <a:t>来源：共享 PostgreSQL 只读一致性统计，2026-10-13 11:32（北京时间）。统计读取现有15张基础表，不统计视图，不读取密钥明文。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未来方向依据最新版plan.md，共六个方向。优先组合是发售年份类型演变、主线进度漏斗和知识图谱推荐。游戏画像聚类或口碑预测选一个扩展。难度评分来自计划文件。刘宇翔负责主线漏斗，王文海负责RAWG对比及口碑分析，其余方向尚待分工。</a:t>
            </a:r>
          </a:p>
          <a:p/>
          <a:p>
            <a:r>
              <a:t>来源：/Users/Learning/course/achievement-analytics/docs/plan.md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/>
        </p:txBody>
      </p:sp>
      <p:sp>
        <p:nvSpPr>
          <p:cNvPr id="2" name="Subtitle"/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/>
      <p:sp>
        <p:nvSpPr>
          <p:cNvPr id="2" name="Section title"/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/>
        </p:txBody>
      </p:sp>
      <p:sp>
        <p:nvSpPr>
          <p:cNvPr id="2" name="Body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/>
      <p:sp>
        <p:nvSpPr>
          <p:cNvPr id="4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/>
        </p:txBody>
      </p:sp>
      <p:sp>
        <p:nvSpPr>
          <p:cNvPr id="3" name="Right column"/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6.xml"/><Relationship Id="rId2" Type="http://schemas.openxmlformats.org/officeDocument/2006/relationships/hyperlink" Target="https://www.soyorinlove.cn" TargetMode="External"/><Relationship Id="rId1" Type="http://schemas.openxmlformats.org/officeDocument/2006/relationships/hyperlink" Target="https://github.com/WwhdsOne/achievement-analytics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6.xml"/><Relationship Id="rId1" Type="http://schemas.openxmlformats.org/officeDocument/2006/relationships/hyperlink" Target="https://rawg.io/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B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609600" y="908685"/>
            <a:ext cx="1085850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570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defRPr sz="570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lang="zh-CN" altLang="en-US" sz="480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基于游戏特征与成就数据的偏好分析</a:t>
            </a:r>
            <a:endParaRPr lang="zh-CN" altLang="en-US" sz="4800" b="1">
              <a:solidFill>
                <a:srgbClr val="FFFFFF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6237605"/>
            <a:ext cx="9525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BDD0C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defRPr sz="1800" b="0">
                <a:solidFill>
                  <a:srgbClr val="BDD0C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800" b="0">
                <a:solidFill>
                  <a:srgbClr val="BDD0C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课程项目阶段汇报     2026 年 10 月</a:t>
            </a:r>
            <a:endParaRPr sz="1800" b="0">
              <a:solidFill>
                <a:srgbClr val="BDD0C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23570" y="3120390"/>
            <a:ext cx="1085850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420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defRPr sz="420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lang="zh-CN" sz="420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组长</a:t>
            </a:r>
            <a:r>
              <a:rPr lang="en-US" altLang="zh-CN" sz="420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：</a:t>
            </a:r>
            <a:r>
              <a:rPr lang="zh-CN" altLang="en-US" sz="420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王文海</a:t>
            </a:r>
            <a:endParaRPr lang="zh-CN" altLang="en-US" sz="4200" b="1">
              <a:solidFill>
                <a:srgbClr val="FFFFFF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3932555"/>
            <a:ext cx="1085850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420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defRPr sz="420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lang="zh-CN" altLang="en-US" sz="420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组员</a:t>
            </a:r>
            <a:r>
              <a:rPr lang="en-US" altLang="zh-CN" sz="420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：</a:t>
            </a:r>
            <a:r>
              <a:rPr lang="zh-CN" altLang="en-US" sz="420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刘宇翔</a:t>
            </a:r>
            <a:r>
              <a:rPr lang="en-US" altLang="zh-CN" sz="420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、</a:t>
            </a:r>
            <a:r>
              <a:rPr lang="zh-CN" altLang="en-US" sz="420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杨金辉</a:t>
            </a:r>
            <a:r>
              <a:rPr lang="en-US" altLang="zh-CN" sz="420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、</a:t>
            </a:r>
            <a:r>
              <a:rPr lang="zh-CN" altLang="en-US" sz="420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耶美田</a:t>
            </a:r>
            <a:r>
              <a:rPr lang="en-US" altLang="zh-CN" sz="420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、</a:t>
            </a:r>
            <a:r>
              <a:rPr lang="zh-CN" altLang="en-US" sz="420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朱政</a:t>
            </a:r>
            <a:r>
              <a:rPr lang="zh-CN" altLang="en-US" sz="420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宇</a:t>
            </a:r>
            <a:endParaRPr lang="zh-CN" altLang="en-US" sz="4200" b="1">
              <a:solidFill>
                <a:srgbClr val="FFFFFF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23570" y="4874260"/>
            <a:ext cx="10492105" cy="46736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420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defRPr sz="420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lang="zh-CN" altLang="en-US" sz="240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项目仓库</a:t>
            </a:r>
            <a:r>
              <a:rPr lang="en-US" altLang="zh-CN" sz="240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：</a:t>
            </a:r>
            <a:r>
              <a:rPr lang="en-US" altLang="zh-CN" sz="200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  <a:hlinkClick r:id="rId1" action="ppaction://hlinkfile"/>
              </a:rPr>
              <a:t>https://github.com/WwhdsOne/achievement-analytics</a:t>
            </a:r>
            <a:endParaRPr lang="en-US" altLang="zh-CN" sz="2000" b="1">
              <a:solidFill>
                <a:srgbClr val="FFFFFF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  <a:hlinkClick r:id="rId1" action="ppaction://hlinkfile"/>
            </a:endParaRPr>
          </a:p>
          <a:p>
            <a:pPr>
              <a:defRPr sz="420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endParaRPr lang="zh-CN" altLang="en-US" sz="2000" b="1">
              <a:solidFill>
                <a:srgbClr val="FFFFFF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  <a:hlinkClick r:id="rId1" action="ppaction://hlinkfile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5483225"/>
            <a:ext cx="10492105" cy="46736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420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defRPr sz="420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lang="zh-CN" altLang="en-US" sz="240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项目</a:t>
            </a:r>
            <a:r>
              <a:rPr lang="zh-CN" altLang="en-US" sz="240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体验地址</a:t>
            </a:r>
            <a:r>
              <a:rPr lang="en-US" altLang="zh-CN" sz="240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：</a:t>
            </a:r>
            <a:r>
              <a:rPr lang="en-US" altLang="zh-CN" sz="240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  <a:hlinkClick r:id="rId2" action="ppaction://hlinkfile"/>
              </a:rPr>
              <a:t>https://www.soyorinlove.cn</a:t>
            </a:r>
            <a:endParaRPr lang="en-US" altLang="zh-CN" sz="2400" b="1">
              <a:solidFill>
                <a:srgbClr val="FFFFFF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  <a:hlinkClick r:id="rId2" action="ppaction://hlinkfile"/>
            </a:endParaRPr>
          </a:p>
          <a:p>
            <a:pPr>
              <a:defRPr sz="420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endParaRPr lang="en-US" altLang="zh-CN" sz="2000" b="1">
              <a:solidFill>
                <a:srgbClr val="FFFFFF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  <a:hlinkClick r:id="rId1" action="ppaction://hlinkfile"/>
            </a:endParaRPr>
          </a:p>
          <a:p>
            <a:pPr>
              <a:defRPr sz="420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endParaRPr lang="zh-CN" altLang="en-US" sz="2000" b="1">
              <a:solidFill>
                <a:srgbClr val="FFFFFF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  <a:hlinkClick r:id="rId1" action="ppaction://hlinkfil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矩形 5"/>
          <p:cNvSpPr>
            <a:spLocks noGrp="1"/>
          </p:cNvSpPr>
          <p:nvPr/>
        </p:nvSpPr>
        <p:spPr>
          <a:xfrm>
            <a:off x="609600" y="457200"/>
            <a:ext cx="109728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300" b="1">
                <a:solidFill>
                  <a:srgbClr val="172A2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defRPr sz="3300" b="1">
                <a:solidFill>
                  <a:srgbClr val="172A2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3300" b="1">
                <a:solidFill>
                  <a:srgbClr val="172A2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六类逐款数据源，</a:t>
            </a:r>
            <a:r>
              <a:rPr lang="zh-CN" sz="3300" b="1">
                <a:solidFill>
                  <a:srgbClr val="172A2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组合</a:t>
            </a:r>
            <a:r>
              <a:rPr sz="3300" b="1">
                <a:solidFill>
                  <a:srgbClr val="172A2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一份游戏档案</a:t>
            </a:r>
            <a:endParaRPr sz="3300" b="1">
              <a:solidFill>
                <a:srgbClr val="172A2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6238875"/>
            <a:ext cx="97155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125" b="0">
                <a:solidFill>
                  <a:srgbClr val="5B6864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defRPr sz="1125" b="0">
                <a:solidFill>
                  <a:srgbClr val="5B6864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125" b="0">
                <a:solidFill>
                  <a:srgbClr val="5B6864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商店中英文详情是两次独立请求，通常写入同一商店详情表及游戏名称字段。</a:t>
            </a:r>
            <a:endParaRPr sz="1125" b="0">
              <a:solidFill>
                <a:srgbClr val="5B6864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graphicFrame>
        <p:nvGraphicFramePr>
          <p:cNvPr id="4" name="表格 3"/>
          <p:cNvGraphicFramePr/>
          <p:nvPr/>
        </p:nvGraphicFramePr>
        <p:xfrm>
          <a:off x="609600" y="1657350"/>
          <a:ext cx="10972800" cy="3981453"/>
        </p:xfrm>
        <a:graphic>
          <a:graphicData uri="http://schemas.openxmlformats.org/drawingml/2006/table">
            <a:tbl>
              <a:tblPr firstRow="1"/>
              <a:tblGrid>
                <a:gridCol w="3143250"/>
                <a:gridCol w="7829550"/>
              </a:tblGrid>
              <a:tr h="568779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逐款源</a:t>
                      </a:r>
                      <a:endParaRPr sz="1800" b="1">
                        <a:solidFill>
                          <a:srgbClr val="FFFFFF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33350" marR="133350" marT="76200" marB="76200" anchor="ctr">
                    <a:lnL w="6191">
                      <a:solidFill>
                        <a:srgbClr val="D8DED7"/>
                      </a:solidFill>
                      <a:prstDash val="solid"/>
                    </a:lnL>
                    <a:lnR w="6191">
                      <a:solidFill>
                        <a:srgbClr val="D8DED7"/>
                      </a:solidFill>
                      <a:prstDash val="solid"/>
                    </a:lnR>
                    <a:lnT w="6191">
                      <a:solidFill>
                        <a:srgbClr val="D8DED7"/>
                      </a:solidFill>
                      <a:prstDash val="solid"/>
                    </a:lnT>
                    <a:lnB w="6191">
                      <a:solidFill>
                        <a:srgbClr val="D8DED7"/>
                      </a:solidFill>
                      <a:prstDash val="solid"/>
                    </a:lnB>
                    <a:solidFill>
                      <a:srgbClr val="246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关键内容</a:t>
                      </a:r>
                      <a:endParaRPr sz="1800" b="1">
                        <a:solidFill>
                          <a:srgbClr val="FFFFFF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33350" marR="133350" marT="76200" marB="76200" anchor="ctr">
                    <a:lnR w="6191">
                      <a:solidFill>
                        <a:srgbClr val="D8DED7"/>
                      </a:solidFill>
                      <a:prstDash val="solid"/>
                    </a:lnR>
                    <a:lnT w="6191">
                      <a:solidFill>
                        <a:srgbClr val="D8DED7"/>
                      </a:solidFill>
                      <a:prstDash val="solid"/>
                    </a:lnT>
                    <a:lnB w="6191">
                      <a:solidFill>
                        <a:srgbClr val="D8DED7"/>
                      </a:solidFill>
                      <a:prstDash val="solid"/>
                    </a:lnB>
                    <a:solidFill>
                      <a:srgbClr val="246A5F"/>
                    </a:solidFill>
                  </a:tcPr>
                </a:tc>
              </a:tr>
              <a:tr h="568779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A2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Steam 英文商店</a:t>
                      </a:r>
                      <a:endParaRPr sz="1800" b="0">
                        <a:solidFill>
                          <a:srgbClr val="172A2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33350" marR="133350" marT="76200" marB="76200" anchor="ctr">
                    <a:lnL w="6191">
                      <a:solidFill>
                        <a:srgbClr val="D8DED7"/>
                      </a:solidFill>
                      <a:prstDash val="solid"/>
                    </a:lnL>
                    <a:lnR w="6191">
                      <a:solidFill>
                        <a:srgbClr val="D8DED7"/>
                      </a:solidFill>
                      <a:prstDash val="solid"/>
                    </a:lnR>
                    <a:lnB w="6191">
                      <a:solidFill>
                        <a:srgbClr val="D8DED7"/>
                      </a:solidFill>
                      <a:prstDash val="soli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A2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名称、价格、发售日、类型、开发商</a:t>
                      </a:r>
                      <a:endParaRPr sz="1800" b="0">
                        <a:solidFill>
                          <a:srgbClr val="172A2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33350" marR="133350" marT="76200" marB="76200" anchor="ctr">
                    <a:lnR w="6191">
                      <a:solidFill>
                        <a:srgbClr val="D8DED7"/>
                      </a:solidFill>
                      <a:prstDash val="solid"/>
                    </a:lnR>
                    <a:lnB w="6191">
                      <a:solidFill>
                        <a:srgbClr val="D8DED7"/>
                      </a:solidFill>
                      <a:prstDash val="solid"/>
                    </a:lnB>
                    <a:solidFill>
                      <a:srgbClr val="F4F2EC"/>
                    </a:solidFill>
                  </a:tcPr>
                </a:tc>
              </a:tr>
              <a:tr h="568779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A2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Steam 中文商店</a:t>
                      </a:r>
                      <a:endParaRPr sz="1800" b="0">
                        <a:solidFill>
                          <a:srgbClr val="172A2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33350" marR="133350" marT="76200" marB="76200" anchor="ctr">
                    <a:lnL w="6191">
                      <a:solidFill>
                        <a:srgbClr val="D8DED7"/>
                      </a:solidFill>
                      <a:prstDash val="solid"/>
                    </a:lnL>
                    <a:lnR w="6191">
                      <a:solidFill>
                        <a:srgbClr val="D8DED7"/>
                      </a:solidFill>
                      <a:prstDash val="solid"/>
                    </a:lnR>
                    <a:lnB w="6191">
                      <a:solidFill>
                        <a:srgbClr val="D8DED7"/>
                      </a:solidFill>
                      <a:prstDash val="soli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A2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官方中文名称与本地化详情</a:t>
                      </a:r>
                      <a:endParaRPr sz="1800" b="0">
                        <a:solidFill>
                          <a:srgbClr val="172A2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33350" marR="133350" marT="76200" marB="76200" anchor="ctr">
                    <a:lnR w="6191">
                      <a:solidFill>
                        <a:srgbClr val="D8DED7"/>
                      </a:solidFill>
                      <a:prstDash val="solid"/>
                    </a:lnR>
                    <a:lnB w="6191">
                      <a:solidFill>
                        <a:srgbClr val="D8DED7"/>
                      </a:solidFill>
                      <a:prstDash val="solid"/>
                    </a:lnB>
                    <a:solidFill>
                      <a:srgbClr val="F4F2EC"/>
                    </a:solidFill>
                  </a:tcPr>
                </a:tc>
              </a:tr>
              <a:tr h="568779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A2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Steam 全局成就率</a:t>
                      </a:r>
                      <a:endParaRPr sz="1800" b="0">
                        <a:solidFill>
                          <a:srgbClr val="172A2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33350" marR="133350" marT="76200" marB="76200" anchor="ctr">
                    <a:lnL w="6191">
                      <a:solidFill>
                        <a:srgbClr val="D8DED7"/>
                      </a:solidFill>
                      <a:prstDash val="solid"/>
                    </a:lnL>
                    <a:lnR w="6191">
                      <a:solidFill>
                        <a:srgbClr val="D8DED7"/>
                      </a:solidFill>
                      <a:prstDash val="solid"/>
                    </a:lnR>
                    <a:lnB w="6191">
                      <a:solidFill>
                        <a:srgbClr val="D8DED7"/>
                      </a:solidFill>
                      <a:prstDash val="soli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A2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每项成就的全局解锁比例</a:t>
                      </a:r>
                      <a:endParaRPr sz="1800" b="0">
                        <a:solidFill>
                          <a:srgbClr val="172A2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33350" marR="133350" marT="76200" marB="76200" anchor="ctr">
                    <a:lnR w="6191">
                      <a:solidFill>
                        <a:srgbClr val="D8DED7"/>
                      </a:solidFill>
                      <a:prstDash val="solid"/>
                    </a:lnR>
                    <a:lnB w="6191">
                      <a:solidFill>
                        <a:srgbClr val="D8DED7"/>
                      </a:solidFill>
                      <a:prstDash val="solid"/>
                    </a:lnB>
                    <a:solidFill>
                      <a:srgbClr val="F4F2EC"/>
                    </a:solidFill>
                  </a:tcPr>
                </a:tc>
              </a:tr>
              <a:tr h="568779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A2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Steam 社区成就页</a:t>
                      </a:r>
                      <a:endParaRPr sz="1800" b="0">
                        <a:solidFill>
                          <a:srgbClr val="172A2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33350" marR="133350" marT="76200" marB="76200" anchor="ctr">
                    <a:lnL w="6191">
                      <a:solidFill>
                        <a:srgbClr val="D8DED7"/>
                      </a:solidFill>
                      <a:prstDash val="solid"/>
                    </a:lnL>
                    <a:lnR w="6191">
                      <a:solidFill>
                        <a:srgbClr val="D8DED7"/>
                      </a:solidFill>
                      <a:prstDash val="solid"/>
                    </a:lnR>
                    <a:lnB w="6191">
                      <a:solidFill>
                        <a:srgbClr val="D8DED7"/>
                      </a:solidFill>
                      <a:prstDash val="soli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A2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成就展示名与描述</a:t>
                      </a:r>
                      <a:endParaRPr sz="1800" b="0">
                        <a:solidFill>
                          <a:srgbClr val="172A2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33350" marR="133350" marT="76200" marB="76200" anchor="ctr">
                    <a:lnR w="6191">
                      <a:solidFill>
                        <a:srgbClr val="D8DED7"/>
                      </a:solidFill>
                      <a:prstDash val="solid"/>
                    </a:lnR>
                    <a:lnB w="6191">
                      <a:solidFill>
                        <a:srgbClr val="D8DED7"/>
                      </a:solidFill>
                      <a:prstDash val="solid"/>
                    </a:lnB>
                    <a:solidFill>
                      <a:srgbClr val="F4F2EC"/>
                    </a:solidFill>
                  </a:tcPr>
                </a:tc>
              </a:tr>
              <a:tr h="568779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A2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SteamSpy</a:t>
                      </a:r>
                      <a:endParaRPr sz="1800" b="0">
                        <a:solidFill>
                          <a:srgbClr val="172A2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33350" marR="133350" marT="76200" marB="76200" anchor="ctr">
                    <a:lnL w="6191">
                      <a:solidFill>
                        <a:srgbClr val="D8DED7"/>
                      </a:solidFill>
                      <a:prstDash val="solid"/>
                    </a:lnL>
                    <a:lnR w="6191">
                      <a:solidFill>
                        <a:srgbClr val="D8DED7"/>
                      </a:solidFill>
                      <a:prstDash val="solid"/>
                    </a:lnR>
                    <a:lnB w="6191">
                      <a:solidFill>
                        <a:srgbClr val="D8DED7"/>
                      </a:solidFill>
                      <a:prstDash val="soli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A2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标签、拥有量估算、在线量、好评与差评</a:t>
                      </a:r>
                      <a:endParaRPr sz="1800" b="0">
                        <a:solidFill>
                          <a:srgbClr val="172A2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33350" marR="133350" marT="76200" marB="76200" anchor="ctr">
                    <a:lnR w="6191">
                      <a:solidFill>
                        <a:srgbClr val="D8DED7"/>
                      </a:solidFill>
                      <a:prstDash val="solid"/>
                    </a:lnR>
                    <a:lnB w="6191">
                      <a:solidFill>
                        <a:srgbClr val="D8DED7"/>
                      </a:solidFill>
                      <a:prstDash val="solid"/>
                    </a:lnB>
                    <a:solidFill>
                      <a:srgbClr val="F4F2EC"/>
                    </a:solidFill>
                  </a:tcPr>
                </a:tc>
              </a:tr>
              <a:tr h="568779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A2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RAWG</a:t>
                      </a:r>
                      <a:r>
                        <a:rPr lang="en-US" sz="1800" b="0">
                          <a:solidFill>
                            <a:srgbClr val="172A2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（</a:t>
                      </a:r>
                      <a:r>
                        <a:rPr lang="zh-CN" altLang="en-US" sz="1800" b="0">
                          <a:solidFill>
                            <a:srgbClr val="172A2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仅部分游戏获取</a:t>
                      </a:r>
                      <a:r>
                        <a:rPr lang="en-US" sz="1800" b="0">
                          <a:solidFill>
                            <a:srgbClr val="172A2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）</a:t>
                      </a:r>
                      <a:endParaRPr lang="en-US" sz="1800" b="0">
                        <a:solidFill>
                          <a:srgbClr val="172A2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33350" marR="133350" marT="76200" marB="76200" anchor="ctr">
                    <a:lnL w="6191">
                      <a:solidFill>
                        <a:srgbClr val="D8DED7"/>
                      </a:solidFill>
                      <a:prstDash val="solid"/>
                    </a:lnL>
                    <a:lnR w="6191">
                      <a:solidFill>
                        <a:srgbClr val="D8DED7"/>
                      </a:solidFill>
                      <a:prstDash val="solid"/>
                    </a:lnR>
                    <a:lnB w="6191">
                      <a:solidFill>
                        <a:srgbClr val="D8DED7"/>
                      </a:solidFill>
                      <a:prstDash val="soli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A2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评分、时长、通关及弃坑状态</a:t>
                      </a:r>
                      <a:endParaRPr sz="1800" b="0">
                        <a:solidFill>
                          <a:srgbClr val="172A2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33350" marR="133350" marT="76200" marB="76200" anchor="ctr">
                    <a:lnR w="6191">
                      <a:solidFill>
                        <a:srgbClr val="D8DED7"/>
                      </a:solidFill>
                      <a:prstDash val="solid"/>
                    </a:lnR>
                    <a:lnB w="6191">
                      <a:solidFill>
                        <a:srgbClr val="D8DED7"/>
                      </a:solidFill>
                      <a:prstDash val="solid"/>
                    </a:lnB>
                    <a:solidFill>
                      <a:srgbClr val="F4F2EC"/>
                    </a:solidFill>
                  </a:tcPr>
                </a:tc>
              </a:tr>
            </a:tbl>
          </a:graphicData>
        </a:graphic>
      </p:graphicFrame>
      <p:sp>
        <p:nvSpPr>
          <p:cNvPr id="5" name="矩形 4"/>
          <p:cNvSpPr>
            <a:spLocks noGrp="1"/>
          </p:cNvSpPr>
          <p:nvPr/>
        </p:nvSpPr>
        <p:spPr>
          <a:xfrm>
            <a:off x="609600" y="5934075"/>
            <a:ext cx="10668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00" b="0">
                <a:solidFill>
                  <a:srgbClr val="5B6864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defRPr sz="1200" b="0">
                <a:solidFill>
                  <a:srgbClr val="5B6864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00" b="0">
                <a:solidFill>
                  <a:srgbClr val="5B6864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RAWG 数据来源：</a:t>
            </a:r>
            <a:r>
              <a:rPr sz="1200" b="0">
                <a:solidFill>
                  <a:srgbClr val="5B6864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  <a:hlinkClick r:id="rId1"/>
              </a:rPr>
              <a:t>rawg.io</a:t>
            </a:r>
            <a:endParaRPr sz="1200" b="0">
              <a:solidFill>
                <a:srgbClr val="5B6864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  <a:hlinkClick r:id="rId1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" name="矩形 13"/>
          <p:cNvSpPr>
            <a:spLocks noGrp="1"/>
          </p:cNvSpPr>
          <p:nvPr/>
        </p:nvSpPr>
        <p:spPr>
          <a:xfrm>
            <a:off x="609600" y="457200"/>
            <a:ext cx="109728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300" b="1">
                <a:solidFill>
                  <a:srgbClr val="172A2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defRPr sz="3300" b="1">
                <a:solidFill>
                  <a:srgbClr val="172A2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lang="zh-CN">
                <a:sym typeface="+mn-ea"/>
              </a:rPr>
              <a:t>各个渠道获取数据</a:t>
            </a:r>
            <a:r>
              <a:rPr lang="zh-CN" sz="3300" b="1">
                <a:solidFill>
                  <a:srgbClr val="172A2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花费</a:t>
            </a:r>
            <a:r>
              <a:rPr lang="zh-CN" altLang="en-US" sz="3300" b="1">
                <a:solidFill>
                  <a:srgbClr val="172A2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约</a:t>
            </a:r>
            <a:r>
              <a:rPr lang="en-US" altLang="zh-CN" sz="3300" b="1">
                <a:solidFill>
                  <a:srgbClr val="172A2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170</a:t>
            </a:r>
            <a:r>
              <a:rPr sz="3300" b="1">
                <a:solidFill>
                  <a:srgbClr val="172A2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小时</a:t>
            </a:r>
            <a:endParaRPr lang="zh-CN" sz="3300" b="1">
              <a:solidFill>
                <a:srgbClr val="172A2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1885950"/>
            <a:ext cx="4381500" cy="1952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050" b="1">
                <a:solidFill>
                  <a:srgbClr val="246A5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defRPr sz="13050" b="1">
                <a:solidFill>
                  <a:srgbClr val="246A5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050" b="1">
                <a:solidFill>
                  <a:srgbClr val="246A5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1</a:t>
            </a:r>
            <a:r>
              <a:rPr lang="en-US" sz="13050" b="1">
                <a:solidFill>
                  <a:srgbClr val="246A5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70</a:t>
            </a:r>
            <a:r>
              <a:rPr lang="en-US" sz="7200" b="1">
                <a:solidFill>
                  <a:srgbClr val="246A5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H</a:t>
            </a:r>
            <a:endParaRPr b="0">
              <a:solidFill>
                <a:srgbClr val="172A2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  <a:p>
            <a:pPr>
              <a:defRPr sz="13050" b="1">
                <a:solidFill>
                  <a:srgbClr val="246A5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endParaRPr sz="13050" b="1">
              <a:solidFill>
                <a:srgbClr val="246A5F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04850" y="3943350"/>
            <a:ext cx="352425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000" b="0">
                <a:solidFill>
                  <a:srgbClr val="172A2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defRPr sz="3000" b="0">
                <a:solidFill>
                  <a:srgbClr val="172A2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endParaRPr sz="3000" b="0">
              <a:solidFill>
                <a:srgbClr val="172A2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476875" y="1809750"/>
            <a:ext cx="5953125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172A2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defRPr sz="2175" b="1">
                <a:solidFill>
                  <a:srgbClr val="172A2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175" b="1">
                <a:solidFill>
                  <a:srgbClr val="172A2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脚本编写</a:t>
            </a:r>
            <a:endParaRPr sz="2175" b="1">
              <a:solidFill>
                <a:srgbClr val="172A2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476875" y="2257425"/>
            <a:ext cx="5953125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5B6864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defRPr sz="1800" b="0">
                <a:solidFill>
                  <a:srgbClr val="5B6864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800" b="0">
                <a:solidFill>
                  <a:srgbClr val="5B6864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逐源解析、限速重试、错误识别和任务编排</a:t>
            </a:r>
            <a:endParaRPr sz="1800" b="0">
              <a:solidFill>
                <a:srgbClr val="5B6864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5476875" y="2876550"/>
            <a:ext cx="5953125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172A2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defRPr sz="2175" b="1">
                <a:solidFill>
                  <a:srgbClr val="172A2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175" b="1">
                <a:solidFill>
                  <a:srgbClr val="172A2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数据库定义</a:t>
            </a:r>
            <a:endParaRPr sz="2175" b="1">
              <a:solidFill>
                <a:srgbClr val="172A2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5476875" y="3324225"/>
            <a:ext cx="5953125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5B6864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defRPr sz="1800" b="0">
                <a:solidFill>
                  <a:srgbClr val="5B6864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800" b="0">
                <a:solidFill>
                  <a:srgbClr val="5B6864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数据表、索引、视图、队列和配额账本</a:t>
            </a:r>
            <a:endParaRPr sz="1800" b="0">
              <a:solidFill>
                <a:srgbClr val="5B6864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5476875" y="3943350"/>
            <a:ext cx="5953125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172A2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defRPr sz="2175" b="1">
                <a:solidFill>
                  <a:srgbClr val="172A2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175" b="1">
                <a:solidFill>
                  <a:srgbClr val="172A2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数据获取与补抓</a:t>
            </a:r>
            <a:endParaRPr sz="2175" b="1">
              <a:solidFill>
                <a:srgbClr val="172A2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5476875" y="4391025"/>
            <a:ext cx="5953125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5B6864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defRPr sz="1800" b="0">
                <a:solidFill>
                  <a:srgbClr val="5B6864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lang="zh-CN" sz="1800" b="0">
                <a:solidFill>
                  <a:srgbClr val="5B6864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全体组员</a:t>
            </a:r>
            <a:r>
              <a:rPr sz="1800" b="0">
                <a:solidFill>
                  <a:srgbClr val="5B6864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多机连续运行</a:t>
            </a:r>
            <a:endParaRPr sz="1800" b="0">
              <a:solidFill>
                <a:srgbClr val="5B6864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476875" y="5229225"/>
            <a:ext cx="5953125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5B6864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defRPr sz="1800" b="0">
                <a:solidFill>
                  <a:srgbClr val="5B6864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lang="zh-CN" sz="1800" b="0">
                <a:solidFill>
                  <a:srgbClr val="5B6864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从中秋假期</a:t>
            </a:r>
            <a:r>
              <a:rPr lang="zh-CN" sz="1800" b="0">
                <a:solidFill>
                  <a:srgbClr val="5B6864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前跑到国庆第二天才跑完原始</a:t>
            </a:r>
            <a:r>
              <a:rPr lang="zh-CN" sz="1800" b="0">
                <a:solidFill>
                  <a:srgbClr val="5B6864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数据</a:t>
            </a:r>
            <a:endParaRPr lang="zh-CN" sz="1800" b="0">
              <a:solidFill>
                <a:srgbClr val="5B6864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" name="矩形 8"/>
          <p:cNvSpPr>
            <a:spLocks noGrp="1"/>
          </p:cNvSpPr>
          <p:nvPr/>
        </p:nvSpPr>
        <p:spPr>
          <a:xfrm>
            <a:off x="609600" y="457200"/>
            <a:ext cx="109728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300" b="1">
                <a:solidFill>
                  <a:srgbClr val="172A2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defRPr sz="3300" b="1">
                <a:solidFill>
                  <a:srgbClr val="172A2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3300" b="1">
                <a:solidFill>
                  <a:srgbClr val="172A2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核心数据表已经累计 3,079,278 行</a:t>
            </a:r>
            <a:endParaRPr sz="3300" b="1">
              <a:solidFill>
                <a:srgbClr val="172A2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1628775"/>
            <a:ext cx="10668000" cy="1438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8400" b="1">
                <a:solidFill>
                  <a:srgbClr val="246A5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defRPr sz="8400" b="1">
                <a:solidFill>
                  <a:srgbClr val="246A5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8400" b="1">
                <a:solidFill>
                  <a:srgbClr val="246A5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307.9 万</a:t>
            </a:r>
            <a:endParaRPr sz="8400" b="1">
              <a:solidFill>
                <a:srgbClr val="246A5F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85800" y="3286125"/>
            <a:ext cx="1019175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625" b="0">
                <a:solidFill>
                  <a:srgbClr val="172A2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defRPr sz="2625" b="0">
                <a:solidFill>
                  <a:srgbClr val="172A2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625" b="0">
                <a:solidFill>
                  <a:srgbClr val="172A2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核心数据记录</a:t>
            </a:r>
            <a:endParaRPr sz="2625" b="0">
              <a:solidFill>
                <a:srgbClr val="172A2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85800" y="4362450"/>
            <a:ext cx="48577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150" b="1">
                <a:solidFill>
                  <a:srgbClr val="172A2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defRPr sz="3150" b="1">
                <a:solidFill>
                  <a:srgbClr val="172A2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3150" b="1">
                <a:solidFill>
                  <a:srgbClr val="172A2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50,956 款游戏</a:t>
            </a:r>
            <a:endParaRPr sz="3150" b="1">
              <a:solidFill>
                <a:srgbClr val="172A2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057900" y="4362450"/>
            <a:ext cx="54292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150" b="1">
                <a:solidFill>
                  <a:srgbClr val="172A2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defRPr sz="3150" b="1">
                <a:solidFill>
                  <a:srgbClr val="172A2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3150" b="1">
                <a:solidFill>
                  <a:srgbClr val="172A2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1,971,064 条成就</a:t>
            </a:r>
            <a:endParaRPr sz="3150" b="1">
              <a:solidFill>
                <a:srgbClr val="172A2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85800" y="5314950"/>
            <a:ext cx="1038225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150" b="1">
                <a:solidFill>
                  <a:srgbClr val="172A2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defRPr sz="3150" b="1">
                <a:solidFill>
                  <a:srgbClr val="172A2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3150" b="1">
                <a:solidFill>
                  <a:srgbClr val="172A2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888,837 条标签关系</a:t>
            </a:r>
            <a:endParaRPr sz="3150" b="1">
              <a:solidFill>
                <a:srgbClr val="172A2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矩形 4"/>
          <p:cNvSpPr>
            <a:spLocks noGrp="1"/>
          </p:cNvSpPr>
          <p:nvPr/>
        </p:nvSpPr>
        <p:spPr>
          <a:xfrm>
            <a:off x="609600" y="457200"/>
            <a:ext cx="109728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300" b="1">
                <a:solidFill>
                  <a:srgbClr val="172A2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defRPr sz="3300" b="1">
                <a:solidFill>
                  <a:srgbClr val="172A2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3300" b="1">
                <a:solidFill>
                  <a:srgbClr val="172A2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核心数据表：每张表有多少行</a:t>
            </a:r>
            <a:endParaRPr sz="3300" b="1">
              <a:solidFill>
                <a:srgbClr val="172A2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graphicFrame>
        <p:nvGraphicFramePr>
          <p:cNvPr id="4" name="表格 3"/>
          <p:cNvGraphicFramePr/>
          <p:nvPr/>
        </p:nvGraphicFramePr>
        <p:xfrm>
          <a:off x="609600" y="1562100"/>
          <a:ext cx="10972800" cy="4057650"/>
        </p:xfrm>
        <a:graphic>
          <a:graphicData uri="http://schemas.openxmlformats.org/drawingml/2006/table">
            <a:tbl>
              <a:tblPr firstRow="1" lastRow="1"/>
              <a:tblGrid>
                <a:gridCol w="3476625"/>
                <a:gridCol w="2238375"/>
                <a:gridCol w="5257800"/>
              </a:tblGrid>
              <a:tr h="45085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数据表</a:t>
                      </a:r>
                      <a:endParaRPr sz="1800" b="1">
                        <a:solidFill>
                          <a:srgbClr val="FFFFFF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33350" marR="133350" marT="76200" marB="76200" anchor="ctr">
                    <a:lnL w="6191">
                      <a:solidFill>
                        <a:srgbClr val="D8DED7"/>
                      </a:solidFill>
                      <a:prstDash val="solid"/>
                    </a:lnL>
                    <a:lnR w="6191">
                      <a:solidFill>
                        <a:srgbClr val="D8DED7"/>
                      </a:solidFill>
                      <a:prstDash val="solid"/>
                    </a:lnR>
                    <a:lnT w="6191">
                      <a:solidFill>
                        <a:srgbClr val="D8DED7"/>
                      </a:solidFill>
                      <a:prstDash val="solid"/>
                    </a:lnT>
                    <a:lnB w="6191">
                      <a:solidFill>
                        <a:srgbClr val="D8DED7"/>
                      </a:solidFill>
                      <a:prstDash val="solid"/>
                    </a:lnB>
                    <a:solidFill>
                      <a:srgbClr val="246A5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1">
                          <a:solidFill>
                            <a:srgbClr val="FFFFFF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行数</a:t>
                      </a:r>
                      <a:endParaRPr sz="1800" b="1">
                        <a:solidFill>
                          <a:srgbClr val="FFFFFF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33350" marR="133350" marT="76200" marB="76200" anchor="ctr">
                    <a:lnR w="6191">
                      <a:solidFill>
                        <a:srgbClr val="D8DED7"/>
                      </a:solidFill>
                      <a:prstDash val="solid"/>
                    </a:lnR>
                    <a:lnT w="6191">
                      <a:solidFill>
                        <a:srgbClr val="D8DED7"/>
                      </a:solidFill>
                      <a:prstDash val="solid"/>
                    </a:lnT>
                    <a:lnB w="6191">
                      <a:solidFill>
                        <a:srgbClr val="D8DED7"/>
                      </a:solidFill>
                      <a:prstDash val="solid"/>
                    </a:lnB>
                    <a:solidFill>
                      <a:srgbClr val="246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内容</a:t>
                      </a:r>
                      <a:endParaRPr sz="1800" b="1">
                        <a:solidFill>
                          <a:srgbClr val="FFFFFF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33350" marR="133350" marT="76200" marB="76200" anchor="ctr">
                    <a:lnR w="6191">
                      <a:solidFill>
                        <a:srgbClr val="D8DED7"/>
                      </a:solidFill>
                      <a:prstDash val="solid"/>
                    </a:lnR>
                    <a:lnT w="6191">
                      <a:solidFill>
                        <a:srgbClr val="D8DED7"/>
                      </a:solidFill>
                      <a:prstDash val="solid"/>
                    </a:lnT>
                    <a:lnB w="6191">
                      <a:solidFill>
                        <a:srgbClr val="D8DED7"/>
                      </a:solidFill>
                      <a:prstDash val="solid"/>
                    </a:lnB>
                    <a:solidFill>
                      <a:srgbClr val="246A5F"/>
                    </a:solidFill>
                  </a:tcPr>
                </a:tc>
              </a:tr>
              <a:tr h="45085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A2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games</a:t>
                      </a:r>
                      <a:endParaRPr sz="1800" b="0">
                        <a:solidFill>
                          <a:srgbClr val="172A2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33350" marR="133350" marT="76200" marB="76200" anchor="ctr">
                    <a:lnL w="6191">
                      <a:solidFill>
                        <a:srgbClr val="D8DED7"/>
                      </a:solidFill>
                      <a:prstDash val="solid"/>
                    </a:lnL>
                    <a:lnR w="6191">
                      <a:solidFill>
                        <a:srgbClr val="D8DED7"/>
                      </a:solidFill>
                      <a:prstDash val="solid"/>
                    </a:lnR>
                    <a:lnB w="6191">
                      <a:solidFill>
                        <a:srgbClr val="D8DED7"/>
                      </a:solidFill>
                      <a:prstDash val="soli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0">
                          <a:solidFill>
                            <a:srgbClr val="172A2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50,956</a:t>
                      </a:r>
                      <a:endParaRPr sz="1800" b="0">
                        <a:solidFill>
                          <a:srgbClr val="172A2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33350" marR="133350" marT="76200" marB="76200" anchor="ctr">
                    <a:lnR w="6191">
                      <a:solidFill>
                        <a:srgbClr val="D8DED7"/>
                      </a:solidFill>
                      <a:prstDash val="solid"/>
                    </a:lnR>
                    <a:lnB w="6191">
                      <a:solidFill>
                        <a:srgbClr val="D8DED7"/>
                      </a:solidFill>
                      <a:prstDash val="soli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A2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游戏主表</a:t>
                      </a:r>
                      <a:endParaRPr sz="1800" b="0">
                        <a:solidFill>
                          <a:srgbClr val="172A2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33350" marR="133350" marT="76200" marB="76200" anchor="ctr">
                    <a:lnR w="6191">
                      <a:solidFill>
                        <a:srgbClr val="D8DED7"/>
                      </a:solidFill>
                      <a:prstDash val="solid"/>
                    </a:lnR>
                    <a:lnB w="6191">
                      <a:solidFill>
                        <a:srgbClr val="D8DED7"/>
                      </a:solidFill>
                      <a:prstDash val="solid"/>
                    </a:lnB>
                    <a:solidFill>
                      <a:srgbClr val="F4F2EC"/>
                    </a:solidFill>
                  </a:tcPr>
                </a:tc>
              </a:tr>
              <a:tr h="45085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A2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store_search_games</a:t>
                      </a:r>
                      <a:endParaRPr sz="1800" b="0">
                        <a:solidFill>
                          <a:srgbClr val="172A2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33350" marR="133350" marT="76200" marB="76200" anchor="ctr">
                    <a:lnL w="6191">
                      <a:solidFill>
                        <a:srgbClr val="D8DED7"/>
                      </a:solidFill>
                      <a:prstDash val="solid"/>
                    </a:lnL>
                    <a:lnR w="6191">
                      <a:solidFill>
                        <a:srgbClr val="D8DED7"/>
                      </a:solidFill>
                      <a:prstDash val="solid"/>
                    </a:lnR>
                    <a:lnB w="6191">
                      <a:solidFill>
                        <a:srgbClr val="D8DED7"/>
                      </a:solidFill>
                      <a:prstDash val="soli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0">
                          <a:solidFill>
                            <a:srgbClr val="172A2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50,956</a:t>
                      </a:r>
                      <a:endParaRPr sz="1800" b="0">
                        <a:solidFill>
                          <a:srgbClr val="172A2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33350" marR="133350" marT="76200" marB="76200" anchor="ctr">
                    <a:lnR w="6191">
                      <a:solidFill>
                        <a:srgbClr val="D8DED7"/>
                      </a:solidFill>
                      <a:prstDash val="solid"/>
                    </a:lnR>
                    <a:lnB w="6191">
                      <a:solidFill>
                        <a:srgbClr val="D8DED7"/>
                      </a:solidFill>
                      <a:prstDash val="soli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A2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商店枚举记录</a:t>
                      </a:r>
                      <a:endParaRPr sz="1800" b="0">
                        <a:solidFill>
                          <a:srgbClr val="172A2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33350" marR="133350" marT="76200" marB="76200" anchor="ctr">
                    <a:lnR w="6191">
                      <a:solidFill>
                        <a:srgbClr val="D8DED7"/>
                      </a:solidFill>
                      <a:prstDash val="solid"/>
                    </a:lnR>
                    <a:lnB w="6191">
                      <a:solidFill>
                        <a:srgbClr val="D8DED7"/>
                      </a:solidFill>
                      <a:prstDash val="solid"/>
                    </a:lnB>
                    <a:solidFill>
                      <a:srgbClr val="F4F2EC"/>
                    </a:solidFill>
                  </a:tcPr>
                </a:tc>
              </a:tr>
              <a:tr h="45085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A2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steam_appdetails</a:t>
                      </a:r>
                      <a:endParaRPr sz="1800" b="0">
                        <a:solidFill>
                          <a:srgbClr val="172A2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33350" marR="133350" marT="76200" marB="76200" anchor="ctr">
                    <a:lnL w="6191">
                      <a:solidFill>
                        <a:srgbClr val="D8DED7"/>
                      </a:solidFill>
                      <a:prstDash val="solid"/>
                    </a:lnL>
                    <a:lnR w="6191">
                      <a:solidFill>
                        <a:srgbClr val="D8DED7"/>
                      </a:solidFill>
                      <a:prstDash val="solid"/>
                    </a:lnR>
                    <a:lnB w="6191">
                      <a:solidFill>
                        <a:srgbClr val="D8DED7"/>
                      </a:solidFill>
                      <a:prstDash val="soli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0">
                          <a:solidFill>
                            <a:srgbClr val="172A2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50,954</a:t>
                      </a:r>
                      <a:endParaRPr sz="1800" b="0">
                        <a:solidFill>
                          <a:srgbClr val="172A2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33350" marR="133350" marT="76200" marB="76200" anchor="ctr">
                    <a:lnR w="6191">
                      <a:solidFill>
                        <a:srgbClr val="D8DED7"/>
                      </a:solidFill>
                      <a:prstDash val="solid"/>
                    </a:lnR>
                    <a:lnB w="6191">
                      <a:solidFill>
                        <a:srgbClr val="D8DED7"/>
                      </a:solidFill>
                      <a:prstDash val="soli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A2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商店详情</a:t>
                      </a:r>
                      <a:endParaRPr sz="1800" b="0">
                        <a:solidFill>
                          <a:srgbClr val="172A2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33350" marR="133350" marT="76200" marB="76200" anchor="ctr">
                    <a:lnR w="6191">
                      <a:solidFill>
                        <a:srgbClr val="D8DED7"/>
                      </a:solidFill>
                      <a:prstDash val="solid"/>
                    </a:lnR>
                    <a:lnB w="6191">
                      <a:solidFill>
                        <a:srgbClr val="D8DED7"/>
                      </a:solidFill>
                      <a:prstDash val="solid"/>
                    </a:lnB>
                    <a:solidFill>
                      <a:srgbClr val="F4F2EC"/>
                    </a:solidFill>
                  </a:tcPr>
                </a:tc>
              </a:tr>
              <a:tr h="45085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A2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steamspy_games</a:t>
                      </a:r>
                      <a:endParaRPr sz="1800" b="0">
                        <a:solidFill>
                          <a:srgbClr val="172A2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33350" marR="133350" marT="76200" marB="76200" anchor="ctr">
                    <a:lnL w="6191">
                      <a:solidFill>
                        <a:srgbClr val="D8DED7"/>
                      </a:solidFill>
                      <a:prstDash val="solid"/>
                    </a:lnL>
                    <a:lnR w="6191">
                      <a:solidFill>
                        <a:srgbClr val="D8DED7"/>
                      </a:solidFill>
                      <a:prstDash val="solid"/>
                    </a:lnR>
                    <a:lnB w="6191">
                      <a:solidFill>
                        <a:srgbClr val="D8DED7"/>
                      </a:solidFill>
                      <a:prstDash val="soli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0">
                          <a:solidFill>
                            <a:srgbClr val="172A2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50,741</a:t>
                      </a:r>
                      <a:endParaRPr sz="1800" b="0">
                        <a:solidFill>
                          <a:srgbClr val="172A2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33350" marR="133350" marT="76200" marB="76200" anchor="ctr">
                    <a:lnR w="6191">
                      <a:solidFill>
                        <a:srgbClr val="D8DED7"/>
                      </a:solidFill>
                      <a:prstDash val="solid"/>
                    </a:lnR>
                    <a:lnB w="6191">
                      <a:solidFill>
                        <a:srgbClr val="D8DED7"/>
                      </a:solidFill>
                      <a:prstDash val="soli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A2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热度与口碑</a:t>
                      </a:r>
                      <a:endParaRPr sz="1800" b="0">
                        <a:solidFill>
                          <a:srgbClr val="172A2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33350" marR="133350" marT="76200" marB="76200" anchor="ctr">
                    <a:lnR w="6191">
                      <a:solidFill>
                        <a:srgbClr val="D8DED7"/>
                      </a:solidFill>
                      <a:prstDash val="solid"/>
                    </a:lnR>
                    <a:lnB w="6191">
                      <a:solidFill>
                        <a:srgbClr val="D8DED7"/>
                      </a:solidFill>
                      <a:prstDash val="solid"/>
                    </a:lnB>
                    <a:solidFill>
                      <a:srgbClr val="F4F2EC"/>
                    </a:solidFill>
                  </a:tcPr>
                </a:tc>
              </a:tr>
              <a:tr h="45085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A2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rawg_games</a:t>
                      </a:r>
                      <a:endParaRPr sz="1800" b="0">
                        <a:solidFill>
                          <a:srgbClr val="172A2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33350" marR="133350" marT="76200" marB="76200" anchor="ctr">
                    <a:lnL w="6191">
                      <a:solidFill>
                        <a:srgbClr val="D8DED7"/>
                      </a:solidFill>
                      <a:prstDash val="solid"/>
                    </a:lnL>
                    <a:lnR w="6191">
                      <a:solidFill>
                        <a:srgbClr val="D8DED7"/>
                      </a:solidFill>
                      <a:prstDash val="solid"/>
                    </a:lnR>
                    <a:lnB w="6191">
                      <a:solidFill>
                        <a:srgbClr val="D8DED7"/>
                      </a:solidFill>
                      <a:prstDash val="soli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0">
                          <a:solidFill>
                            <a:srgbClr val="172A2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15,770</a:t>
                      </a:r>
                      <a:endParaRPr sz="1800" b="0">
                        <a:solidFill>
                          <a:srgbClr val="172A2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33350" marR="133350" marT="76200" marB="76200" anchor="ctr">
                    <a:lnR w="6191">
                      <a:solidFill>
                        <a:srgbClr val="D8DED7"/>
                      </a:solidFill>
                      <a:prstDash val="solid"/>
                    </a:lnR>
                    <a:lnB w="6191">
                      <a:solidFill>
                        <a:srgbClr val="D8DED7"/>
                      </a:solidFill>
                      <a:prstDash val="soli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A2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评分、时长与状态</a:t>
                      </a:r>
                      <a:endParaRPr sz="1800" b="0">
                        <a:solidFill>
                          <a:srgbClr val="172A2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33350" marR="133350" marT="76200" marB="76200" anchor="ctr">
                    <a:lnR w="6191">
                      <a:solidFill>
                        <a:srgbClr val="D8DED7"/>
                      </a:solidFill>
                      <a:prstDash val="solid"/>
                    </a:lnR>
                    <a:lnB w="6191">
                      <a:solidFill>
                        <a:srgbClr val="D8DED7"/>
                      </a:solidFill>
                      <a:prstDash val="solid"/>
                    </a:lnB>
                    <a:solidFill>
                      <a:srgbClr val="F4F2EC"/>
                    </a:solidFill>
                  </a:tcPr>
                </a:tc>
              </a:tr>
              <a:tr h="45085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A2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achievements</a:t>
                      </a:r>
                      <a:endParaRPr sz="1800" b="0">
                        <a:solidFill>
                          <a:srgbClr val="172A2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33350" marR="133350" marT="76200" marB="76200" anchor="ctr">
                    <a:lnL w="6191">
                      <a:solidFill>
                        <a:srgbClr val="D8DED7"/>
                      </a:solidFill>
                      <a:prstDash val="solid"/>
                    </a:lnL>
                    <a:lnR w="6191">
                      <a:solidFill>
                        <a:srgbClr val="D8DED7"/>
                      </a:solidFill>
                      <a:prstDash val="solid"/>
                    </a:lnR>
                    <a:lnB w="6191">
                      <a:solidFill>
                        <a:srgbClr val="D8DED7"/>
                      </a:solidFill>
                      <a:prstDash val="soli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0">
                          <a:solidFill>
                            <a:srgbClr val="172A2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1,971,064</a:t>
                      </a:r>
                      <a:endParaRPr sz="1800" b="0">
                        <a:solidFill>
                          <a:srgbClr val="172A2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33350" marR="133350" marT="76200" marB="76200" anchor="ctr">
                    <a:lnR w="6191">
                      <a:solidFill>
                        <a:srgbClr val="D8DED7"/>
                      </a:solidFill>
                      <a:prstDash val="solid"/>
                    </a:lnR>
                    <a:lnB w="6191">
                      <a:solidFill>
                        <a:srgbClr val="D8DED7"/>
                      </a:solidFill>
                      <a:prstDash val="soli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A2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成就及完成率</a:t>
                      </a:r>
                      <a:endParaRPr sz="1800" b="0">
                        <a:solidFill>
                          <a:srgbClr val="172A2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33350" marR="133350" marT="76200" marB="76200" anchor="ctr">
                    <a:lnR w="6191">
                      <a:solidFill>
                        <a:srgbClr val="D8DED7"/>
                      </a:solidFill>
                      <a:prstDash val="solid"/>
                    </a:lnR>
                    <a:lnB w="6191">
                      <a:solidFill>
                        <a:srgbClr val="D8DED7"/>
                      </a:solidFill>
                      <a:prstDash val="solid"/>
                    </a:lnB>
                    <a:solidFill>
                      <a:srgbClr val="F4F2EC"/>
                    </a:solidFill>
                  </a:tcPr>
                </a:tc>
              </a:tr>
              <a:tr h="45085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A2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game_tags</a:t>
                      </a:r>
                      <a:endParaRPr sz="1800" b="0">
                        <a:solidFill>
                          <a:srgbClr val="172A2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33350" marR="133350" marT="76200" marB="76200" anchor="ctr">
                    <a:lnL w="6191">
                      <a:solidFill>
                        <a:srgbClr val="D8DED7"/>
                      </a:solidFill>
                      <a:prstDash val="solid"/>
                    </a:lnL>
                    <a:lnR w="6191">
                      <a:solidFill>
                        <a:srgbClr val="D8DED7"/>
                      </a:solidFill>
                      <a:prstDash val="solid"/>
                    </a:lnR>
                    <a:lnB w="6191">
                      <a:solidFill>
                        <a:srgbClr val="D8DED7"/>
                      </a:solidFill>
                      <a:prstDash val="soli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0">
                          <a:solidFill>
                            <a:srgbClr val="172A2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888,837</a:t>
                      </a:r>
                      <a:endParaRPr sz="1800" b="0">
                        <a:solidFill>
                          <a:srgbClr val="172A2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33350" marR="133350" marT="76200" marB="76200" anchor="ctr">
                    <a:lnR w="6191">
                      <a:solidFill>
                        <a:srgbClr val="D8DED7"/>
                      </a:solidFill>
                      <a:prstDash val="solid"/>
                    </a:lnR>
                    <a:lnB w="6191">
                      <a:solidFill>
                        <a:srgbClr val="D8DED7"/>
                      </a:solidFill>
                      <a:prstDash val="soli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A2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游戏与标签关系</a:t>
                      </a:r>
                      <a:endParaRPr sz="1800" b="0">
                        <a:solidFill>
                          <a:srgbClr val="172A2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33350" marR="133350" marT="76200" marB="76200" anchor="ctr">
                    <a:lnR w="6191">
                      <a:solidFill>
                        <a:srgbClr val="D8DED7"/>
                      </a:solidFill>
                      <a:prstDash val="solid"/>
                    </a:lnR>
                    <a:lnB w="6191">
                      <a:solidFill>
                        <a:srgbClr val="D8DED7"/>
                      </a:solidFill>
                      <a:prstDash val="solid"/>
                    </a:lnB>
                    <a:solidFill>
                      <a:srgbClr val="F4F2EC"/>
                    </a:solidFill>
                  </a:tcPr>
                </a:tc>
              </a:tr>
              <a:tr h="45085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172A2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核心数据合计</a:t>
                      </a:r>
                      <a:endParaRPr sz="1800" b="1">
                        <a:solidFill>
                          <a:srgbClr val="172A2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33350" marR="133350" marT="76200" marB="76200" anchor="ctr">
                    <a:lnL w="6191">
                      <a:solidFill>
                        <a:srgbClr val="D8DED7"/>
                      </a:solidFill>
                      <a:prstDash val="solid"/>
                    </a:lnL>
                    <a:lnR w="6191">
                      <a:solidFill>
                        <a:srgbClr val="D8DED7"/>
                      </a:solidFill>
                      <a:prstDash val="solid"/>
                    </a:lnR>
                    <a:lnB w="6191">
                      <a:solidFill>
                        <a:srgbClr val="D8DED7"/>
                      </a:solidFill>
                      <a:prstDash val="solid"/>
                    </a:lnB>
                    <a:solidFill>
                      <a:srgbClr val="E2E9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1">
                          <a:solidFill>
                            <a:srgbClr val="172A2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3,079,278</a:t>
                      </a:r>
                      <a:endParaRPr sz="1800" b="1">
                        <a:solidFill>
                          <a:srgbClr val="172A2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33350" marR="133350" marT="76200" marB="76200" anchor="ctr">
                    <a:lnR w="6191">
                      <a:solidFill>
                        <a:srgbClr val="D8DED7"/>
                      </a:solidFill>
                      <a:prstDash val="solid"/>
                    </a:lnR>
                    <a:lnB w="6191">
                      <a:solidFill>
                        <a:srgbClr val="D8DED7"/>
                      </a:solidFill>
                      <a:prstDash val="solid"/>
                    </a:lnB>
                    <a:solidFill>
                      <a:srgbClr val="E2E9D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172A2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以上7张表行数之和</a:t>
                      </a:r>
                      <a:endParaRPr sz="1800" b="1">
                        <a:solidFill>
                          <a:srgbClr val="172A2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33350" marR="133350" marT="76200" marB="76200" anchor="ctr">
                    <a:lnR w="6191">
                      <a:solidFill>
                        <a:srgbClr val="D8DED7"/>
                      </a:solidFill>
                      <a:prstDash val="solid"/>
                    </a:lnR>
                    <a:lnB w="6191">
                      <a:solidFill>
                        <a:srgbClr val="D8DED7"/>
                      </a:solidFill>
                      <a:prstDash val="solid"/>
                    </a:lnB>
                    <a:solidFill>
                      <a:srgbClr val="E2E9D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矩形 4"/>
          <p:cNvSpPr>
            <a:spLocks noGrp="1"/>
          </p:cNvSpPr>
          <p:nvPr/>
        </p:nvSpPr>
        <p:spPr>
          <a:xfrm>
            <a:off x="609600" y="457200"/>
            <a:ext cx="109728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300" b="1">
                <a:solidFill>
                  <a:srgbClr val="172A2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defRPr sz="3300" b="1">
                <a:solidFill>
                  <a:srgbClr val="172A2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lang="zh-CN" sz="3300" b="1">
                <a:solidFill>
                  <a:srgbClr val="172A2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后续计划</a:t>
            </a:r>
            <a:r>
              <a:rPr sz="3300" b="1">
                <a:solidFill>
                  <a:srgbClr val="172A2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 包含六个方向</a:t>
            </a:r>
            <a:endParaRPr sz="3300" b="1">
              <a:solidFill>
                <a:srgbClr val="172A2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graphicFrame>
        <p:nvGraphicFramePr>
          <p:cNvPr id="4" name="表格 3"/>
          <p:cNvGraphicFramePr/>
          <p:nvPr/>
        </p:nvGraphicFramePr>
        <p:xfrm>
          <a:off x="609600" y="1619250"/>
          <a:ext cx="10972800" cy="4038601"/>
        </p:xfrm>
        <a:graphic>
          <a:graphicData uri="http://schemas.openxmlformats.org/drawingml/2006/table">
            <a:tbl>
              <a:tblPr firstRow="1"/>
              <a:tblGrid>
                <a:gridCol w="3571875"/>
                <a:gridCol w="1095375"/>
                <a:gridCol w="291900"/>
                <a:gridCol w="2013150"/>
                <a:gridCol w="4000500"/>
              </a:tblGrid>
              <a:tr h="576943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方向</a:t>
                      </a:r>
                      <a:endParaRPr sz="1725" b="1">
                        <a:solidFill>
                          <a:srgbClr val="FFFFFF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33350" marR="133350" marT="76200" marB="76200" anchor="ctr">
                    <a:lnL w="6191">
                      <a:solidFill>
                        <a:srgbClr val="D8DED7"/>
                      </a:solidFill>
                      <a:prstDash val="solid"/>
                    </a:lnL>
                    <a:lnR w="6191">
                      <a:solidFill>
                        <a:srgbClr val="D8DED7"/>
                      </a:solidFill>
                      <a:prstDash val="solid"/>
                    </a:lnR>
                    <a:lnT w="6191">
                      <a:solidFill>
                        <a:srgbClr val="D8DED7"/>
                      </a:solidFill>
                      <a:prstDash val="solid"/>
                    </a:lnT>
                    <a:lnB w="6191">
                      <a:solidFill>
                        <a:srgbClr val="D8DED7"/>
                      </a:solidFill>
                      <a:prstDash val="solid"/>
                    </a:lnB>
                    <a:solidFill>
                      <a:srgbClr val="246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优先级</a:t>
                      </a:r>
                      <a:endParaRPr sz="1725" b="1">
                        <a:solidFill>
                          <a:srgbClr val="FFFFFF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33350" marR="133350" marT="76200" marB="76200" anchor="ctr">
                    <a:lnR w="6191">
                      <a:solidFill>
                        <a:srgbClr val="D8DED7"/>
                      </a:solidFill>
                      <a:prstDash val="solid"/>
                    </a:lnR>
                    <a:lnT w="6191">
                      <a:solidFill>
                        <a:srgbClr val="D8DED7"/>
                      </a:solidFill>
                      <a:prstDash val="solid"/>
                    </a:lnT>
                    <a:lnB w="6191">
                      <a:solidFill>
                        <a:srgbClr val="D8DED7"/>
                      </a:solidFill>
                      <a:prstDash val="solid"/>
                    </a:lnB>
                    <a:solidFill>
                      <a:srgbClr val="246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1725" b="1">
                        <a:solidFill>
                          <a:srgbClr val="FFFFFF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33350" marR="133350" marT="76200" marB="76200" anchor="ctr">
                    <a:lnR w="6191">
                      <a:solidFill>
                        <a:srgbClr val="D8DED7"/>
                      </a:solidFill>
                      <a:prstDash val="solid"/>
                    </a:lnR>
                    <a:lnT w="6191">
                      <a:solidFill>
                        <a:srgbClr val="D8DED7"/>
                      </a:solidFill>
                      <a:prstDash val="solid"/>
                    </a:lnT>
                    <a:lnB w="6191">
                      <a:solidFill>
                        <a:srgbClr val="D8DED7"/>
                      </a:solidFill>
                      <a:prstDash val="solid"/>
                    </a:lnB>
                    <a:solidFill>
                      <a:srgbClr val="246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执行人</a:t>
                      </a:r>
                      <a:endParaRPr sz="1725" b="1">
                        <a:solidFill>
                          <a:srgbClr val="FFFFFF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33350" marR="133350" marT="76200" marB="76200" anchor="ctr">
                    <a:lnR w="6191">
                      <a:solidFill>
                        <a:srgbClr val="D8DED7"/>
                      </a:solidFill>
                      <a:prstDash val="solid"/>
                    </a:lnR>
                    <a:lnT w="6191">
                      <a:solidFill>
                        <a:srgbClr val="D8DED7"/>
                      </a:solidFill>
                      <a:prstDash val="solid"/>
                    </a:lnT>
                    <a:lnB w="6191">
                      <a:solidFill>
                        <a:srgbClr val="D8DED7"/>
                      </a:solidFill>
                      <a:prstDash val="solid"/>
                    </a:lnB>
                    <a:solidFill>
                      <a:srgbClr val="246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预期产出</a:t>
                      </a:r>
                      <a:endParaRPr sz="1725" b="1">
                        <a:solidFill>
                          <a:srgbClr val="FFFFFF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33350" marR="133350" marT="76200" marB="76200" anchor="ctr">
                    <a:lnR w="6191">
                      <a:solidFill>
                        <a:srgbClr val="D8DED7"/>
                      </a:solidFill>
                      <a:prstDash val="solid"/>
                    </a:lnR>
                    <a:lnT w="6191">
                      <a:solidFill>
                        <a:srgbClr val="D8DED7"/>
                      </a:solidFill>
                      <a:prstDash val="solid"/>
                    </a:lnT>
                    <a:lnB w="6191">
                      <a:solidFill>
                        <a:srgbClr val="D8DED7"/>
                      </a:solidFill>
                      <a:prstDash val="solid"/>
                    </a:lnB>
                    <a:solidFill>
                      <a:srgbClr val="246A5F"/>
                    </a:solidFill>
                  </a:tcPr>
                </a:tc>
              </a:tr>
              <a:tr h="576943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72A2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发售年份与</a:t>
                      </a:r>
                      <a:r>
                        <a:rPr lang="zh-CN" sz="1725" b="0">
                          <a:solidFill>
                            <a:srgbClr val="172A2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潮流</a:t>
                      </a:r>
                      <a:r>
                        <a:rPr sz="1725" b="0">
                          <a:solidFill>
                            <a:srgbClr val="172A2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类型演变</a:t>
                      </a:r>
                      <a:endParaRPr sz="1725" b="0">
                        <a:solidFill>
                          <a:srgbClr val="172A2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33350" marR="133350" marT="76200" marB="76200" anchor="ctr">
                    <a:lnL w="6191">
                      <a:solidFill>
                        <a:srgbClr val="D8DED7"/>
                      </a:solidFill>
                      <a:prstDash val="solid"/>
                    </a:lnL>
                    <a:lnR w="6191">
                      <a:solidFill>
                        <a:srgbClr val="D8DED7"/>
                      </a:solidFill>
                      <a:prstDash val="solid"/>
                    </a:lnR>
                    <a:lnB w="6191">
                      <a:solidFill>
                        <a:srgbClr val="D8DED7"/>
                      </a:solidFill>
                      <a:prstDash val="soli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72A2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主线</a:t>
                      </a:r>
                      <a:endParaRPr sz="1725" b="0">
                        <a:solidFill>
                          <a:srgbClr val="172A2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33350" marR="133350" marT="76200" marB="76200" anchor="ctr">
                    <a:lnR w="6191">
                      <a:solidFill>
                        <a:srgbClr val="D8DED7"/>
                      </a:solidFill>
                      <a:prstDash val="solid"/>
                    </a:lnR>
                    <a:lnB w="6191">
                      <a:solidFill>
                        <a:srgbClr val="D8DED7"/>
                      </a:solidFill>
                      <a:prstDash val="soli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1725" b="0">
                        <a:solidFill>
                          <a:srgbClr val="172A2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33350" marR="133350" marT="76200" marB="76200" anchor="ctr">
                    <a:lnR w="6191">
                      <a:solidFill>
                        <a:srgbClr val="D8DED7"/>
                      </a:solidFill>
                      <a:prstDash val="solid"/>
                    </a:lnR>
                    <a:lnB w="6191">
                      <a:solidFill>
                        <a:srgbClr val="D8DED7"/>
                      </a:solidFill>
                      <a:prstDash val="soli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725" b="0">
                          <a:solidFill>
                            <a:srgbClr val="172A2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杨金辉</a:t>
                      </a:r>
                      <a:endParaRPr lang="zh-CN" altLang="en-US" sz="1725" b="0">
                        <a:solidFill>
                          <a:srgbClr val="172A2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33350" marR="133350" marT="76200" marB="76200" anchor="ctr">
                    <a:lnR w="6191">
                      <a:solidFill>
                        <a:srgbClr val="D8DED7"/>
                      </a:solidFill>
                      <a:prstDash val="solid"/>
                    </a:lnR>
                    <a:lnB w="6191">
                      <a:solidFill>
                        <a:srgbClr val="D8DED7"/>
                      </a:solidFill>
                      <a:prstDash val="soli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72A2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年度趋势与热力图</a:t>
                      </a:r>
                      <a:endParaRPr sz="1725" b="0">
                        <a:solidFill>
                          <a:srgbClr val="172A2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33350" marR="133350" marT="76200" marB="76200" anchor="ctr">
                    <a:lnR w="6191">
                      <a:solidFill>
                        <a:srgbClr val="D8DED7"/>
                      </a:solidFill>
                      <a:prstDash val="solid"/>
                    </a:lnR>
                    <a:lnB w="6191">
                      <a:solidFill>
                        <a:srgbClr val="D8DED7"/>
                      </a:solidFill>
                      <a:prstDash val="solid"/>
                    </a:lnB>
                    <a:solidFill>
                      <a:srgbClr val="F4F2EC"/>
                    </a:solidFill>
                  </a:tcPr>
                </a:tc>
              </a:tr>
              <a:tr h="576943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72A2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游戏画像聚类</a:t>
                      </a:r>
                      <a:endParaRPr sz="1725" b="0">
                        <a:solidFill>
                          <a:srgbClr val="172A2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33350" marR="133350" marT="76200" marB="76200" anchor="ctr">
                    <a:lnL w="6191">
                      <a:solidFill>
                        <a:srgbClr val="D8DED7"/>
                      </a:solidFill>
                      <a:prstDash val="solid"/>
                    </a:lnL>
                    <a:lnR w="6191">
                      <a:solidFill>
                        <a:srgbClr val="D8DED7"/>
                      </a:solidFill>
                      <a:prstDash val="solid"/>
                    </a:lnR>
                    <a:lnB w="6191">
                      <a:solidFill>
                        <a:srgbClr val="D8DED7"/>
                      </a:solidFill>
                      <a:prstDash val="soli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72A2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扩展</a:t>
                      </a:r>
                      <a:endParaRPr sz="1725" b="0">
                        <a:solidFill>
                          <a:srgbClr val="172A2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33350" marR="133350" marT="76200" marB="76200" anchor="ctr">
                    <a:lnR w="6191">
                      <a:solidFill>
                        <a:srgbClr val="D8DED7"/>
                      </a:solidFill>
                      <a:prstDash val="solid"/>
                    </a:lnR>
                    <a:lnB w="6191">
                      <a:solidFill>
                        <a:srgbClr val="D8DED7"/>
                      </a:solidFill>
                      <a:prstDash val="soli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1725" b="0">
                        <a:solidFill>
                          <a:srgbClr val="172A2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33350" marR="133350" marT="76200" marB="76200" anchor="ctr">
                    <a:lnR w="6191">
                      <a:solidFill>
                        <a:srgbClr val="D8DED7"/>
                      </a:solidFill>
                      <a:prstDash val="solid"/>
                    </a:lnR>
                    <a:lnB w="6191">
                      <a:solidFill>
                        <a:srgbClr val="D8DED7"/>
                      </a:solidFill>
                      <a:prstDash val="soli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725" b="0">
                          <a:solidFill>
                            <a:srgbClr val="172A2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耶美田</a:t>
                      </a:r>
                      <a:endParaRPr lang="zh-CN" altLang="en-US" sz="1725" b="0">
                        <a:solidFill>
                          <a:srgbClr val="172A2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33350" marR="133350" marT="76200" marB="76200" anchor="ctr">
                    <a:lnR w="6191">
                      <a:solidFill>
                        <a:srgbClr val="D8DED7"/>
                      </a:solidFill>
                      <a:prstDash val="solid"/>
                    </a:lnR>
                    <a:lnB w="6191">
                      <a:solidFill>
                        <a:srgbClr val="D8DED7"/>
                      </a:solidFill>
                      <a:prstDash val="soli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72A2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游戏类别与代表作品</a:t>
                      </a:r>
                      <a:endParaRPr sz="1725" b="0">
                        <a:solidFill>
                          <a:srgbClr val="172A2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33350" marR="133350" marT="76200" marB="76200" anchor="ctr">
                    <a:lnR w="6191">
                      <a:solidFill>
                        <a:srgbClr val="D8DED7"/>
                      </a:solidFill>
                      <a:prstDash val="solid"/>
                    </a:lnR>
                    <a:lnB w="6191">
                      <a:solidFill>
                        <a:srgbClr val="D8DED7"/>
                      </a:solidFill>
                      <a:prstDash val="solid"/>
                    </a:lnB>
                    <a:solidFill>
                      <a:srgbClr val="F4F2EC"/>
                    </a:solidFill>
                  </a:tcPr>
                </a:tc>
              </a:tr>
              <a:tr h="576943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72A2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主线进度漏斗</a:t>
                      </a:r>
                      <a:endParaRPr sz="1725" b="0">
                        <a:solidFill>
                          <a:srgbClr val="172A2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33350" marR="133350" marT="76200" marB="76200" anchor="ctr">
                    <a:lnL w="6191">
                      <a:solidFill>
                        <a:srgbClr val="D8DED7"/>
                      </a:solidFill>
                      <a:prstDash val="solid"/>
                    </a:lnL>
                    <a:lnR w="6191">
                      <a:solidFill>
                        <a:srgbClr val="D8DED7"/>
                      </a:solidFill>
                      <a:prstDash val="solid"/>
                    </a:lnR>
                    <a:lnB w="6191">
                      <a:solidFill>
                        <a:srgbClr val="D8DED7"/>
                      </a:solidFill>
                      <a:prstDash val="soli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72A2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主线</a:t>
                      </a:r>
                      <a:endParaRPr sz="1725" b="0">
                        <a:solidFill>
                          <a:srgbClr val="172A2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33350" marR="133350" marT="76200" marB="76200" anchor="ctr">
                    <a:lnR w="6191">
                      <a:solidFill>
                        <a:srgbClr val="D8DED7"/>
                      </a:solidFill>
                      <a:prstDash val="solid"/>
                    </a:lnR>
                    <a:lnB w="6191">
                      <a:solidFill>
                        <a:srgbClr val="D8DED7"/>
                      </a:solidFill>
                      <a:prstDash val="soli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1725" b="0">
                        <a:solidFill>
                          <a:srgbClr val="172A2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33350" marR="133350" marT="76200" marB="76200" anchor="ctr">
                    <a:lnR w="6191">
                      <a:solidFill>
                        <a:srgbClr val="D8DED7"/>
                      </a:solidFill>
                      <a:prstDash val="solid"/>
                    </a:lnR>
                    <a:lnB w="6191">
                      <a:solidFill>
                        <a:srgbClr val="D8DED7"/>
                      </a:solidFill>
                      <a:prstDash val="soli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72A2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刘宇翔</a:t>
                      </a:r>
                      <a:endParaRPr sz="1725" b="0">
                        <a:solidFill>
                          <a:srgbClr val="172A2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33350" marR="133350" marT="76200" marB="76200" anchor="ctr">
                    <a:lnR w="6191">
                      <a:solidFill>
                        <a:srgbClr val="D8DED7"/>
                      </a:solidFill>
                      <a:prstDash val="solid"/>
                    </a:lnR>
                    <a:lnB w="6191">
                      <a:solidFill>
                        <a:srgbClr val="D8DED7"/>
                      </a:solidFill>
                      <a:prstDash val="soli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72A2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关键主线节点完成率</a:t>
                      </a:r>
                      <a:endParaRPr sz="1725" b="0">
                        <a:solidFill>
                          <a:srgbClr val="172A2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33350" marR="133350" marT="76200" marB="76200" anchor="ctr">
                    <a:lnR w="6191">
                      <a:solidFill>
                        <a:srgbClr val="D8DED7"/>
                      </a:solidFill>
                      <a:prstDash val="solid"/>
                    </a:lnR>
                    <a:lnB w="6191">
                      <a:solidFill>
                        <a:srgbClr val="D8DED7"/>
                      </a:solidFill>
                      <a:prstDash val="solid"/>
                    </a:lnB>
                    <a:solidFill>
                      <a:srgbClr val="F4F2EC"/>
                    </a:solidFill>
                  </a:tcPr>
                </a:tc>
              </a:tr>
              <a:tr h="576943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72A2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知识图谱与可解释推荐</a:t>
                      </a:r>
                      <a:endParaRPr sz="1725" b="0">
                        <a:solidFill>
                          <a:srgbClr val="172A2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33350" marR="133350" marT="76200" marB="76200" anchor="ctr">
                    <a:lnL w="6191">
                      <a:solidFill>
                        <a:srgbClr val="D8DED7"/>
                      </a:solidFill>
                      <a:prstDash val="solid"/>
                    </a:lnL>
                    <a:lnR w="6191">
                      <a:solidFill>
                        <a:srgbClr val="D8DED7"/>
                      </a:solidFill>
                      <a:prstDash val="solid"/>
                    </a:lnR>
                    <a:lnB w="6191">
                      <a:solidFill>
                        <a:srgbClr val="D8DED7"/>
                      </a:solidFill>
                      <a:prstDash val="soli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72A2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主线</a:t>
                      </a:r>
                      <a:endParaRPr sz="1725" b="0">
                        <a:solidFill>
                          <a:srgbClr val="172A2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33350" marR="133350" marT="76200" marB="76200" anchor="ctr">
                    <a:lnR w="6191">
                      <a:solidFill>
                        <a:srgbClr val="D8DED7"/>
                      </a:solidFill>
                      <a:prstDash val="solid"/>
                    </a:lnR>
                    <a:lnB w="6191">
                      <a:solidFill>
                        <a:srgbClr val="D8DED7"/>
                      </a:solidFill>
                      <a:prstDash val="soli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1725" b="0">
                        <a:solidFill>
                          <a:srgbClr val="172A2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33350" marR="133350" marT="76200" marB="76200" anchor="ctr">
                    <a:lnR w="6191">
                      <a:solidFill>
                        <a:srgbClr val="D8DED7"/>
                      </a:solidFill>
                      <a:prstDash val="solid"/>
                    </a:lnR>
                    <a:lnB w="6191">
                      <a:solidFill>
                        <a:srgbClr val="D8DED7"/>
                      </a:solidFill>
                      <a:prstDash val="soli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725" b="0">
                          <a:solidFill>
                            <a:srgbClr val="172A2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朱政宇</a:t>
                      </a:r>
                      <a:endParaRPr lang="zh-CN" altLang="en-US" sz="1725" b="0">
                        <a:solidFill>
                          <a:srgbClr val="172A2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33350" marR="133350" marT="76200" marB="76200" anchor="ctr">
                    <a:lnR w="6191">
                      <a:solidFill>
                        <a:srgbClr val="D8DED7"/>
                      </a:solidFill>
                      <a:prstDash val="solid"/>
                    </a:lnR>
                    <a:lnB w="6191">
                      <a:solidFill>
                        <a:srgbClr val="D8DED7"/>
                      </a:solidFill>
                      <a:prstDash val="soli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72A2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相似游戏与推荐理由</a:t>
                      </a:r>
                      <a:endParaRPr sz="1725" b="0">
                        <a:solidFill>
                          <a:srgbClr val="172A2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33350" marR="133350" marT="76200" marB="76200" anchor="ctr">
                    <a:lnR w="6191">
                      <a:solidFill>
                        <a:srgbClr val="D8DED7"/>
                      </a:solidFill>
                      <a:prstDash val="solid"/>
                    </a:lnR>
                    <a:lnB w="6191">
                      <a:solidFill>
                        <a:srgbClr val="D8DED7"/>
                      </a:solidFill>
                      <a:prstDash val="solid"/>
                    </a:lnB>
                    <a:solidFill>
                      <a:srgbClr val="F4F2EC"/>
                    </a:solidFill>
                  </a:tcPr>
                </a:tc>
              </a:tr>
              <a:tr h="576943">
                <a:tc>
                  <a:txBody>
                    <a:bodyPr/>
                    <a:lstStyle/>
                    <a:p>
                      <a:pPr algn="l"/>
                      <a:r>
                        <a:rPr lang="zh-CN" sz="1725" b="0">
                          <a:solidFill>
                            <a:srgbClr val="172A2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实际</a:t>
                      </a:r>
                      <a:r>
                        <a:rPr sz="1725" b="0">
                          <a:solidFill>
                            <a:srgbClr val="172A2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完成曲线与RAWG</a:t>
                      </a:r>
                      <a:r>
                        <a:rPr lang="zh-CN" sz="1725" b="0">
                          <a:solidFill>
                            <a:srgbClr val="172A2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论坛数据</a:t>
                      </a:r>
                      <a:r>
                        <a:rPr lang="zh-CN" sz="1725" b="0">
                          <a:solidFill>
                            <a:srgbClr val="172A2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对比</a:t>
                      </a:r>
                      <a:endParaRPr lang="zh-CN" sz="1725" b="0">
                        <a:solidFill>
                          <a:srgbClr val="172A2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33350" marR="133350" marT="76200" marB="76200" anchor="ctr">
                    <a:lnL w="6191">
                      <a:solidFill>
                        <a:srgbClr val="D8DED7"/>
                      </a:solidFill>
                      <a:prstDash val="solid"/>
                    </a:lnL>
                    <a:lnR w="6191">
                      <a:solidFill>
                        <a:srgbClr val="D8DED7"/>
                      </a:solidFill>
                      <a:prstDash val="solid"/>
                    </a:lnR>
                    <a:lnB w="6191">
                      <a:solidFill>
                        <a:srgbClr val="D8DED7"/>
                      </a:solidFill>
                      <a:prstDash val="soli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72A2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进阶</a:t>
                      </a:r>
                      <a:endParaRPr sz="1725" b="0">
                        <a:solidFill>
                          <a:srgbClr val="172A2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33350" marR="133350" marT="76200" marB="76200" anchor="ctr">
                    <a:lnR w="6191">
                      <a:solidFill>
                        <a:srgbClr val="D8DED7"/>
                      </a:solidFill>
                      <a:prstDash val="solid"/>
                    </a:lnR>
                    <a:lnB w="6191">
                      <a:solidFill>
                        <a:srgbClr val="D8DED7"/>
                      </a:solidFill>
                      <a:prstDash val="soli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1725" b="0">
                        <a:solidFill>
                          <a:srgbClr val="172A2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33350" marR="133350" marT="76200" marB="76200" anchor="ctr">
                    <a:lnR w="6191">
                      <a:solidFill>
                        <a:srgbClr val="D8DED7"/>
                      </a:solidFill>
                      <a:prstDash val="solid"/>
                    </a:lnR>
                    <a:lnB w="6191">
                      <a:solidFill>
                        <a:srgbClr val="D8DED7"/>
                      </a:solidFill>
                      <a:prstDash val="soli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72A2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王文海</a:t>
                      </a:r>
                      <a:endParaRPr sz="1725" b="0">
                        <a:solidFill>
                          <a:srgbClr val="172A2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33350" marR="133350" marT="76200" marB="76200" anchor="ctr">
                    <a:lnR w="6191">
                      <a:solidFill>
                        <a:srgbClr val="D8DED7"/>
                      </a:solidFill>
                      <a:prstDash val="solid"/>
                    </a:lnR>
                    <a:lnB w="6191">
                      <a:solidFill>
                        <a:srgbClr val="D8DED7"/>
                      </a:solidFill>
                      <a:prstDash val="soli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72A2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内容分类与跨平台对照</a:t>
                      </a:r>
                      <a:endParaRPr sz="1725" b="0">
                        <a:solidFill>
                          <a:srgbClr val="172A2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33350" marR="133350" marT="76200" marB="76200" anchor="ctr">
                    <a:lnR w="6191">
                      <a:solidFill>
                        <a:srgbClr val="D8DED7"/>
                      </a:solidFill>
                      <a:prstDash val="solid"/>
                    </a:lnR>
                    <a:lnB w="6191">
                      <a:solidFill>
                        <a:srgbClr val="D8DED7"/>
                      </a:solidFill>
                      <a:prstDash val="solid"/>
                    </a:lnB>
                    <a:solidFill>
                      <a:srgbClr val="F4F2EC"/>
                    </a:solidFill>
                  </a:tcPr>
                </a:tc>
              </a:tr>
              <a:tr h="576943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72A2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游戏口碑预测与关联因素</a:t>
                      </a:r>
                      <a:endParaRPr sz="1725" b="0">
                        <a:solidFill>
                          <a:srgbClr val="172A2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33350" marR="133350" marT="76200" marB="76200" anchor="ctr">
                    <a:lnL w="6191">
                      <a:solidFill>
                        <a:srgbClr val="D8DED7"/>
                      </a:solidFill>
                      <a:prstDash val="solid"/>
                    </a:lnL>
                    <a:lnR w="6191">
                      <a:solidFill>
                        <a:srgbClr val="D8DED7"/>
                      </a:solidFill>
                      <a:prstDash val="solid"/>
                    </a:lnR>
                    <a:lnB w="6191">
                      <a:solidFill>
                        <a:srgbClr val="D8DED7"/>
                      </a:solidFill>
                      <a:prstDash val="soli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72A2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扩展</a:t>
                      </a:r>
                      <a:endParaRPr sz="1725" b="0">
                        <a:solidFill>
                          <a:srgbClr val="172A2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33350" marR="133350" marT="76200" marB="76200" anchor="ctr">
                    <a:lnR w="6191">
                      <a:solidFill>
                        <a:srgbClr val="D8DED7"/>
                      </a:solidFill>
                      <a:prstDash val="solid"/>
                    </a:lnR>
                    <a:lnB w="6191">
                      <a:solidFill>
                        <a:srgbClr val="D8DED7"/>
                      </a:solidFill>
                      <a:prstDash val="soli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1725" b="0">
                        <a:solidFill>
                          <a:srgbClr val="172A2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33350" marR="133350" marT="76200" marB="76200" anchor="ctr">
                    <a:lnR w="6191">
                      <a:solidFill>
                        <a:srgbClr val="D8DED7"/>
                      </a:solidFill>
                      <a:prstDash val="solid"/>
                    </a:lnR>
                    <a:lnB w="6191">
                      <a:solidFill>
                        <a:srgbClr val="D8DED7"/>
                      </a:solidFill>
                      <a:prstDash val="soli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72A2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王文海</a:t>
                      </a:r>
                      <a:endParaRPr sz="1725" b="0">
                        <a:solidFill>
                          <a:srgbClr val="172A2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33350" marR="133350" marT="76200" marB="76200" anchor="ctr">
                    <a:lnR w="6191">
                      <a:solidFill>
                        <a:srgbClr val="D8DED7"/>
                      </a:solidFill>
                      <a:prstDash val="solid"/>
                    </a:lnR>
                    <a:lnB w="6191">
                      <a:solidFill>
                        <a:srgbClr val="D8DED7"/>
                      </a:solidFill>
                      <a:prstDash val="soli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72A2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预测评估与相关因素</a:t>
                      </a:r>
                      <a:endParaRPr sz="1725" b="0">
                        <a:solidFill>
                          <a:srgbClr val="172A2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33350" marR="133350" marT="76200" marB="76200" anchor="ctr">
                    <a:lnR w="6191">
                      <a:solidFill>
                        <a:srgbClr val="D8DED7"/>
                      </a:solidFill>
                      <a:prstDash val="solid"/>
                    </a:lnR>
                    <a:lnB w="6191">
                      <a:solidFill>
                        <a:srgbClr val="D8DED7"/>
                      </a:solidFill>
                      <a:prstDash val="solid"/>
                    </a:lnB>
                    <a:solidFill>
                      <a:srgbClr val="F4F2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920</Words>
  <Application>WPS 演示</Application>
  <PresentationFormat>Converted Presentation</PresentationFormat>
  <Paragraphs>194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7" baseType="lpstr">
      <vt:lpstr>Arial</vt:lpstr>
      <vt:lpstr>宋体</vt:lpstr>
      <vt:lpstr>Wingdings</vt:lpstr>
      <vt:lpstr>Hiragino Sans GB</vt:lpstr>
      <vt:lpstr>微软雅黑</vt:lpstr>
      <vt:lpstr>方正雅意黑 GB18030L2</vt:lpstr>
      <vt:lpstr>Arial Unicode MS</vt:lpstr>
      <vt:lpstr>Aptos</vt:lpstr>
      <vt:lpstr>Helvetica Neue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王文海</cp:lastModifiedBy>
  <cp:revision>23</cp:revision>
  <dcterms:created xsi:type="dcterms:W3CDTF">2026-10-14T03:04:51Z</dcterms:created>
  <dcterms:modified xsi:type="dcterms:W3CDTF">2026-10-14T03:04:51Z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A73E244929757709DAA9CD6AC2B24E7D_42</vt:lpwstr>
  </property>
  <property fmtid="{D5CDD505-2E9C-101B-9397-08002B2CF9AE}" pid="3" name="KSOProductBuildVer">
    <vt:lpwstr>2052-12.1.28496.28496</vt:lpwstr>
  </property>
</Properties>
</file>