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9" r:id="rId6"/>
    <p:sldId id="262" r:id="rId7"/>
    <p:sldId id="263" r:id="rId8"/>
    <p:sldId id="268" r:id="rId9"/>
    <p:sldId id="269" r:id="rId10"/>
    <p:sldId id="270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本次汇报重点是数据工程的实际投入与成果，以及最新版计划中的下一步方向。168小时来自汇报者对脚本编写、数据库定义和数据获取的个人估算，不是自动记录的精确工时。</a:t>
            </a:r>
          </a:p>
          <a:p/>
          <a:p>
            <a:r>
              <a:t>来源：用户本次说明；/Users/Learning/course/achievement-analytics/docs/plan.md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这里表达个人累计工作投入。实际采集记录跨2026年9月18日至10月1日，采集窗口和人工投入不是同一个时间概念。不要把168小时说成系统跑完所需时间，也不要人为拆分各环节工时。</a:t>
            </a:r>
          </a:p>
          <a:p/>
          <a:p>
            <a:r>
              <a:t>来源：用户本次说明；/Users/Learning/course/achievement-analytics/AGENTS.md；/Users/Learning/course/achievement-analytics/docs/data-report.md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六个逐款源包括appdetails_en、appdetails_zh、global_ach、community_ach、steamspy、rawg。批量枚举另有store_search、store_applist、steamspy_all。SteamSpy平均与中位时长字段已失效，时长展示必须使用有效的RAWG字段。</a:t>
            </a:r>
          </a:p>
          <a:p/>
          <a:p>
            <a:r>
              <a:t>来源：/Users/Learning/course/achievement-analytics/AGENTS.md；/Users/Learning/course/achievement-analytics/docs/sources.md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核心数据表定义为games、store_search_games、steam_appdetails、steamspy_games、rawg_games、achievements、game_tags。它们总计3079278行。这里不计任务队列、日志与额度账本。全部15张表合计3639894行，后续表格逐一列明。</a:t>
            </a:r>
          </a:p>
          <a:p/>
          <a:p>
            <a:r>
              <a:t>来源：共享 PostgreSQL 只读一致性统计，2026-10-13 11:32（北京时间）。统计读取现有15张基础表，不统计视图，不读取密钥明文。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这是7张核心数据表的完整行数。games与store_search_games行数相同，但角色不同，应各列一次。achievements包括每项成就的完成率、展示名等字段，一行不是一个玩家。</a:t>
            </a:r>
          </a:p>
          <a:p/>
          <a:p>
            <a:r>
              <a:t>来源：共享 PostgreSQL 只读一致性统计，2026-10-13 11:32（北京时间）。统计读取现有15张基础表，不统计视图，不读取密钥明文。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来方向依据最新版plan.md，共六个方向。优先组合是发售年份类型演变、主线进度漏斗和知识图谱推荐。游戏画像聚类或口碑预测选一个扩展。难度评分来自计划文件。刘宇翔负责主线漏斗，王文海负责RAWG对比及口碑分析，其余方向尚待分工。</a:t>
            </a:r>
          </a:p>
          <a:p/>
          <a:p>
            <a:r>
              <a:t>来源：/Users/Learning/course/achievement-analytics/docs/plan.md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款试标是本次提出的建议规模，不是plan已有承诺。plan原本提出100至1000款主线明确的游戏，所以建议先试标再扩展。推荐用同学盲评前五条结果，与简单标签重合作对照。分类曲线不把按完成率排序当剧情时间线。</a:t>
            </a:r>
          </a:p>
          <a:p/>
          <a:p>
            <a:r>
              <a:t>来源：/Users/Learning/course/achievement-analytics/docs/plan.md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来验收应关注能够解释和验证的结果。年度标签比例是发行批次的特征，不是当年的市场热度。主线完成率是观察时点的聚合比例，不等于留存或流失。推荐须给出理由，并有基础方法对照。若开展口碑预测，以平均分基线和线性方法先行，避免同游戏版本泄漏，结论表述为相关。</a:t>
            </a:r>
          </a:p>
          <a:p/>
          <a:p>
            <a:r>
              <a:t>来源：/Users/Learning/course/achievement-analytics/docs/plan.md；RAWG 数据页面需要回链：https://rawg.io/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hyperlink" Target="https://rawg.io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B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01 / 15</a:t>
            </a:r>
            <a:endParaRPr sz="1125" b="0">
              <a:solidFill>
                <a:srgbClr val="BDD0C8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24000"/>
            <a:ext cx="10858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57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Steam 游戏数据</a:t>
            </a:r>
            <a:endParaRPr sz="57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705100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4200" b="1">
                <a:solidFill>
                  <a:srgbClr val="FFFFF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获取成果与后续计划</a:t>
            </a:r>
            <a:endParaRPr sz="4200" b="1">
              <a:solidFill>
                <a:srgbClr val="FFFFF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47700" y="5429250"/>
            <a:ext cx="952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BDD0C8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课程项目阶段汇报     2026 年 10 月</a:t>
            </a:r>
            <a:endParaRPr sz="1800" b="0">
              <a:solidFill>
                <a:srgbClr val="BDD0C8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约 168 小时，投入在数据管道的每一层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02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个人估算累计投入，约等于 7 × 24 小时。各环节未单独计时。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885950"/>
            <a:ext cx="438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30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168</a:t>
            </a:r>
            <a:endParaRPr sz="1305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04850" y="3943350"/>
            <a:ext cx="35242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000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小时</a:t>
            </a:r>
            <a:endParaRPr sz="3000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476875" y="18097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脚本编写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476875" y="22574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逐源解析、限速重试、错误识别和任务编排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476875" y="28765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数据库定义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476875" y="33242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数据表、索引、视图、队列和配额账本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476875" y="39433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数据获取与补抓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76875" y="43910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多机连续运行，处理中断、漏页与源级挂起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476875" y="5010150"/>
            <a:ext cx="5953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验证与修复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476875" y="5457825"/>
            <a:ext cx="59531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核验名称映射，复查被误判为“无数据”的任务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六类逐款数据源，拼成一份游戏档案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04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商店中英文详情是两次独立请求，通常写入同一商店详情表及游戏名称字段。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57350"/>
          <a:ext cx="10972800" cy="3981453"/>
        </p:xfrm>
        <a:graphic>
          <a:graphicData uri="http://schemas.openxmlformats.org/drawingml/2006/table">
            <a:tbl>
              <a:tblPr firstRow="1"/>
              <a:tblGrid>
                <a:gridCol w="3143250"/>
                <a:gridCol w="7829550"/>
              </a:tblGrid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逐款源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英文商店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名称、价格、发售日、类型、开发商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中文商店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官方中文名称与本地化详情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全局成就率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每项成就的全局解锁比例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 社区成就页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成就展示名与描述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标签、拥有量估算、在线量、好评与差评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68779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评分、时长、通关及弃坑状态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  <p:sp>
        <p:nvSpPr>
          <p:cNvPr id="5" name="矩形 4"/>
          <p:cNvSpPr>
            <a:spLocks noGrp="1"/>
          </p:cNvSpPr>
          <p:nvPr/>
        </p:nvSpPr>
        <p:spPr>
          <a:xfrm>
            <a:off x="609600" y="5934075"/>
            <a:ext cx="106680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RAWG 数据来源：</a:t>
            </a:r>
            <a:r>
              <a:rPr sz="12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  <a:hlinkClick r:id="rId1"/>
              </a:rPr>
              <a:t>rawg.io</a:t>
            </a:r>
            <a:endParaRPr sz="12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  <a:hlinkClick r:id="rId1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核心数据表已经累计 3,079,278 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07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7张核心数据表的物理行数合计。同一游戏可出现在多张表中，不代表307万个独立对象。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628775"/>
            <a:ext cx="10668000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840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307.9 万</a:t>
            </a:r>
            <a:endParaRPr sz="840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3286125"/>
            <a:ext cx="10191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625" b="0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核心数据记录</a:t>
            </a:r>
            <a:endParaRPr sz="2625" b="0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85800" y="4362450"/>
            <a:ext cx="4857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50,956 款游戏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57900" y="4362450"/>
            <a:ext cx="54292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1,971,064 条成就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5800" y="5314950"/>
            <a:ext cx="1038225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15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888,837 条标签关系</a:t>
            </a:r>
            <a:endParaRPr sz="315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核心数据表：每张表有多少行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08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统计时点：2026-10-13 11:32（北京时间），全部为精确 COUNT(*)。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562100"/>
          <a:ext cx="10972800" cy="4057650"/>
        </p:xfrm>
        <a:graphic>
          <a:graphicData uri="http://schemas.openxmlformats.org/drawingml/2006/table">
            <a:tbl>
              <a:tblPr firstRow="1" lastRow="1"/>
              <a:tblGrid>
                <a:gridCol w="3476625"/>
                <a:gridCol w="2238375"/>
                <a:gridCol w="5257800"/>
              </a:tblGrid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数据表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行数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</a:t>
                      </a:r>
                      <a:endParaRPr sz="1800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游戏主表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store_search_games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50,956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商店枚举记录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steam_appdetails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50,954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商店详情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steamspy_games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50,741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热度与口碑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rawg_games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15,770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评分、时长与状态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achievements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1,971,064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成就及完成率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game_tags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888,837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游戏与标签关系</a:t>
                      </a:r>
                      <a:endParaRPr sz="1800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45085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核心数据合计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3,079,278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以上7张表行数之和</a:t>
                      </a:r>
                      <a:endParaRPr sz="1800" b="1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E2E9D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最新版 PLAN 包含六个后续方向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13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按现有 plan.md：主线优先采用类型演变、主线进度漏斗与可解释推荐，其余分阶段扩展。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609600" y="1619250"/>
          <a:ext cx="10972800" cy="4038601"/>
        </p:xfrm>
        <a:graphic>
          <a:graphicData uri="http://schemas.openxmlformats.org/drawingml/2006/table">
            <a:tbl>
              <a:tblPr firstRow="1"/>
              <a:tblGrid>
                <a:gridCol w="3571875"/>
                <a:gridCol w="1095375"/>
                <a:gridCol w="876300"/>
                <a:gridCol w="1428750"/>
                <a:gridCol w="4000500"/>
              </a:tblGrid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方向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优先级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难度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执行人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预期产出</a:t>
                      </a:r>
                      <a:endParaRPr sz="1725" b="1">
                        <a:solidFill>
                          <a:srgbClr val="FFFFFF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T w="6191">
                      <a:solidFill>
                        <a:srgbClr val="D8DED7"/>
                      </a:solidFill>
                      <a:prstDash val="solid"/>
                    </a:lnT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246A5F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发售年份与类型演变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2/5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待分工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年度趋势与热力图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游戏画像聚类与分型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待分工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游戏类别与代表作品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主线进度漏斗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刘宇翔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关键主线节点完成率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知识图谱与可解释推荐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主线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3/5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待分工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相似游戏与推荐理由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分类完成曲线与RAWG对比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进阶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4/5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内容分类与跨平台对照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  <a:tr h="576943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游戏口碑预测与关联因素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L w="6191">
                      <a:solidFill>
                        <a:srgbClr val="D8DED7"/>
                      </a:solidFill>
                      <a:prstDash val="solid"/>
                    </a:lnL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扩展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4/5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王文海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172A2A"/>
                          </a:solidFill>
                          <a:latin typeface="Hiragino Sans GB" panose="020B0300000000000000" charset="-122"/>
                          <a:ea typeface="Hiragino Sans GB" panose="020B0300000000000000" charset="-122"/>
                          <a:cs typeface="Hiragino Sans GB" panose="020B0300000000000000" charset="-122"/>
                        </a:rPr>
                        <a:t>预测评估与相关因素</a:t>
                      </a:r>
                      <a:endParaRPr sz="1725" b="0">
                        <a:solidFill>
                          <a:srgbClr val="172A2A"/>
                        </a:solidFill>
                        <a:latin typeface="Hiragino Sans GB" panose="020B0300000000000000" charset="-122"/>
                        <a:ea typeface="Hiragino Sans GB" panose="020B0300000000000000" charset="-122"/>
                        <a:cs typeface="Hiragino Sans GB" panose="020B0300000000000000" charset="-122"/>
                      </a:endParaRPr>
                    </a:p>
                  </a:txBody>
                  <a:tcPr marL="133350" marR="133350" marT="76200" marB="76200" anchor="ctr">
                    <a:lnR w="6191">
                      <a:solidFill>
                        <a:srgbClr val="D8DED7"/>
                      </a:solidFill>
                      <a:prstDash val="solid"/>
                    </a:lnR>
                    <a:lnB w="6191">
                      <a:solidFill>
                        <a:srgbClr val="D8DED7"/>
                      </a:solidFill>
                      <a:prstDash val="soli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建议推进顺序：先验证小样本，再扩到全量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14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6238875"/>
            <a:ext cx="971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以下为推进建议，尚未承诺具体日期。主线标注需要人工核验，不能由完成率排序代替剧情顺序。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15811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第一阶段  核验数据与小规模试标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028825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修复剩余映射问题，核验RAWG字段，先试标20款知名游戏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6479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第二阶段  年度类型与主线漏斗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095625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完成年度标签统计，试标通过后再扩至100～1000款主线明确的游戏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37147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第三阶段  可解释游戏推荐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4162425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先比较简单标签重合与加权推荐，再组织游戏、标签、开发商关系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4781550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第四阶段  按时间选择扩展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09600" y="5229225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深化RAWG对照，在游戏画像聚类或口碑预测中选择一个扩展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3300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下一次汇报，要带来能验证的分析结果</a:t>
            </a:r>
            <a:endParaRPr sz="3300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0668000" y="6438900"/>
            <a:ext cx="952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125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15 / 15</a:t>
            </a:r>
            <a:endParaRPr sz="1125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47825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年度类型变化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095500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展示各年份标签占比，同时报告标签覆盖率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733675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重点游戏的主线完成表现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181350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展示人工核验后的剧情节点，并说明哪些指标可以计算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819525"/>
            <a:ext cx="1085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175" b="1">
                <a:solidFill>
                  <a:srgbClr val="172A2A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有理由、可比较的游戏推荐</a:t>
            </a:r>
            <a:endParaRPr sz="2175" b="1">
              <a:solidFill>
                <a:srgbClr val="172A2A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267200"/>
            <a:ext cx="108585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1800" b="0">
                <a:solidFill>
                  <a:srgbClr val="5B6864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展示相似标签与成就特征，让同学盲评推荐是否相关</a:t>
            </a:r>
            <a:endParaRPr sz="1800" b="0">
              <a:solidFill>
                <a:srgbClr val="5B6864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334000"/>
            <a:ext cx="109061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5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defPPr>
          </a:lstStyle>
          <a:p>
            <a:pPr>
              <a:defRPr sz="25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defRPr>
            </a:pPr>
            <a:r>
              <a:rPr sz="2550" b="1">
                <a:solidFill>
                  <a:srgbClr val="246A5F"/>
                </a:solidFill>
                <a:latin typeface="Hiragino Sans GB" panose="020B0300000000000000" charset="-122"/>
                <a:ea typeface="Hiragino Sans GB" panose="020B0300000000000000" charset="-122"/>
                <a:cs typeface="Hiragino Sans GB" panose="020B0300000000000000" charset="-122"/>
              </a:rPr>
              <a:t>数据获取已形成底座，后续工作转向分析与验证</a:t>
            </a:r>
            <a:endParaRPr sz="2550" b="1">
              <a:solidFill>
                <a:srgbClr val="246A5F"/>
              </a:solidFill>
              <a:latin typeface="Hiragino Sans GB" panose="020B0300000000000000" charset="-122"/>
              <a:ea typeface="Hiragino Sans GB" panose="020B0300000000000000" charset="-122"/>
              <a:cs typeface="Hiragino Sans GB" panose="020B03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1432</Words>
  <Application>WPS 演示</Application>
  <PresentationFormat>Converted Presentation</PresentationFormat>
  <Paragraphs>262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Arial</vt:lpstr>
      <vt:lpstr>宋体</vt:lpstr>
      <vt:lpstr>Wingdings</vt:lpstr>
      <vt:lpstr>Hiragino Sans GB</vt:lpstr>
      <vt:lpstr>微软雅黑</vt:lpstr>
      <vt:lpstr>方正雅意黑 GB18030L2</vt:lpstr>
      <vt:lpstr>Arial Unicode MS</vt:lpstr>
      <vt:lpstr>Aptos</vt:lpstr>
      <vt:lpstr>Helvetica Neue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王文海</cp:lastModifiedBy>
  <cp:revision>1</cp:revision>
  <dcterms:created xsi:type="dcterms:W3CDTF">2026-10-13T03:47:38Z</dcterms:created>
  <dcterms:modified xsi:type="dcterms:W3CDTF">2026-10-13T03:47:38Z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A73E244929757709DAA9CD6AC2B24E7D_42</vt:lpwstr>
  </property>
  <property fmtid="{D5CDD505-2E9C-101B-9397-08002B2CF9AE}" pid="3" name="KSOProductBuildVer">
    <vt:lpwstr>2052-12.1.28496.28496</vt:lpwstr>
  </property>
</Properties>
</file>