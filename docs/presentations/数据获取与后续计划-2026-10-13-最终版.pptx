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9" r:id="rId5"/>
    <p:sldId id="257" r:id="rId6"/>
    <p:sldId id="262" r:id="rId7"/>
    <p:sldId id="263" r:id="rId8"/>
    <p:sldId id="268" r:id="rId9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本次汇报重点是数据工程的实际投入与成果，以及最新版计划中的下一步方向。168小时来自汇报者对脚本编写、数据库定义和数据获取的个人估算，不是自动记录的精确工时。</a:t>
            </a:r>
          </a:p>
          <a:p/>
          <a:p>
            <a:r>
              <a:t>来源：用户本次说明；/Users/Learning/course/achievement-analytics/docs/plan.md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六个逐款源包括appdetails_en、appdetails_zh、global_ach、community_ach、steamspy、rawg。批量枚举另有store_search、store_applist、steamspy_all。SteamSpy平均与中位时长字段已失效，时长展示必须使用有效的RAWG字段。</a:t>
            </a:r>
          </a:p>
          <a:p/>
          <a:p>
            <a:r>
              <a:t>来源：/Users/Learning/course/achievement-analytics/AGENTS.md；/Users/Learning/course/achievement-analytics/docs/sources.md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这里表达个人累计工作投入。实际采集记录跨2026年9月18日至10月1日，采集窗口和人工投入不是同一个时间概念。不要把168小时说成系统跑完所需时间，也不要人为拆分各环节工时。</a:t>
            </a:r>
          </a:p>
          <a:p/>
          <a:p>
            <a:r>
              <a:t>来源：用户本次说明；/Users/Learning/course/achievement-analytics/AGENTS.md；/Users/Learning/course/achievement-analytics/docs/data-report.md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核心数据表定义为games、store_search_games、steam_appdetails、steamspy_games、rawg_games、achievements、game_tags。它们总计3079278行。这里不计任务队列、日志与额度账本。全部15张表合计3639894行，后续表格逐一列明。</a:t>
            </a:r>
          </a:p>
          <a:p/>
          <a:p>
            <a:r>
              <a:t>来源：共享 PostgreSQL 只读一致性统计，2026-10-13 11:32（北京时间）。统计读取现有15张基础表，不统计视图，不读取密钥明文。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这是7张核心数据表的完整行数。games与store_search_games行数相同，但角色不同，应各列一次。achievements包括每项成就的完成率、展示名等字段，一行不是一个玩家。</a:t>
            </a:r>
          </a:p>
          <a:p/>
          <a:p>
            <a:r>
              <a:t>来源：共享 PostgreSQL 只读一致性统计，2026-10-13 11:32（北京时间）。统计读取现有15张基础表，不统计视图，不读取密钥明文。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未来方向依据最新版plan.md，共六个方向。优先组合是发售年份类型演变、主线进度漏斗和知识图谱推荐。游戏画像聚类或口碑预测选一个扩展。难度评分来自计划文件。刘宇翔负责主线漏斗，王文海负责RAWG对比及口碑分析，其余方向尚待分工。</a:t>
            </a:r>
          </a:p>
          <a:p/>
          <a:p>
            <a:r>
              <a:t>来源：/Users/Learning/course/achievement-analytics/docs/plan.md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hyperlink" Target="https://github.com/WwhdsOne/achievement-analytics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hyperlink" Target="https://rawg.io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B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609600" y="908685"/>
            <a:ext cx="108585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57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57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altLang="en-US" sz="48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基于游戏特征与成就数据的偏好分析</a:t>
            </a:r>
            <a:endParaRPr lang="zh-CN" altLang="en-US" sz="48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6237605"/>
            <a:ext cx="9525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BDD0C8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BDD0C8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BDD0C8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课程项目阶段汇报     2026 年 10 月</a:t>
            </a:r>
            <a:endParaRPr sz="1800" b="0">
              <a:solidFill>
                <a:srgbClr val="BDD0C8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356679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组长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：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王文海</a:t>
            </a:r>
            <a:endParaRPr lang="zh-CN" altLang="en-US" sz="42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42404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组员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：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刘宇翔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、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杨金辉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、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耶美田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、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朱政</a:t>
            </a: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宇</a:t>
            </a:r>
            <a:endParaRPr lang="zh-CN" altLang="en-US" sz="42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23570" y="522922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altLang="en-US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项目地址</a:t>
            </a:r>
            <a:r>
              <a:rPr lang="en-US" altLang="zh-CN"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：</a:t>
            </a:r>
            <a:r>
              <a:rPr lang="en-US" altLang="zh-CN" sz="20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  <a:hlinkClick r:id="rId1" action="ppaction://hlinkfile"/>
              </a:rPr>
              <a:t>https://github.com/WwhdsOne/achievement-analytics</a:t>
            </a:r>
            <a:endParaRPr lang="en-US" altLang="zh-CN" sz="20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  <a:hlinkClick r:id="rId1" action="ppaction://hlinkfil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六类逐款数据源，</a:t>
            </a:r>
            <a:r>
              <a:rPr 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组合</a:t>
            </a: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一份游戏档案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6238875"/>
            <a:ext cx="9715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商店中英文详情是两次独立请求，通常写入同一商店详情表及游戏名称字段。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657350"/>
          <a:ext cx="10972800" cy="3981453"/>
        </p:xfrm>
        <a:graphic>
          <a:graphicData uri="http://schemas.openxmlformats.org/drawingml/2006/table">
            <a:tbl>
              <a:tblPr firstRow="1"/>
              <a:tblGrid>
                <a:gridCol w="3143250"/>
                <a:gridCol w="7829550"/>
              </a:tblGrid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逐款源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关键内容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英文商店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名称、价格、发售日、类型、开发商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中文商店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官方中文名称与本地化详情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全局成就率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每项成就的全局解锁比例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社区成就页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成就展示名与描述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SteamSpy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标签、拥有量估算、在线量、好评与差评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RAWG</a:t>
                      </a:r>
                      <a:r>
                        <a:rPr 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（</a:t>
                      </a:r>
                      <a:r>
                        <a:rPr lang="zh-CN" alt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仅部分游戏获取</a:t>
                      </a:r>
                      <a:r>
                        <a:rPr lang="en-US"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）</a:t>
                      </a:r>
                      <a:endParaRPr lang="en-US"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评分、时长、通关及弃坑状态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  <p:sp>
        <p:nvSpPr>
          <p:cNvPr id="5" name="矩形 4"/>
          <p:cNvSpPr>
            <a:spLocks noGrp="1"/>
          </p:cNvSpPr>
          <p:nvPr/>
        </p:nvSpPr>
        <p:spPr>
          <a:xfrm>
            <a:off x="609600" y="593407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2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RAWG 数据来源：</a:t>
            </a:r>
            <a:r>
              <a:rPr sz="12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  <a:hlinkClick r:id="rId1"/>
              </a:rPr>
              <a:t>rawg.io</a:t>
            </a:r>
            <a:endParaRPr sz="12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  <a:hlinkClick r:id="rId1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矩形 13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花费</a:t>
            </a:r>
            <a:r>
              <a:rPr lang="zh-CN" altLang="en-US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约</a:t>
            </a:r>
            <a:r>
              <a:rPr lang="en-US" alt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170</a:t>
            </a: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小时，</a:t>
            </a:r>
            <a:r>
              <a:rPr 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各个渠道获取</a:t>
            </a:r>
            <a:r>
              <a:rPr 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</a:t>
            </a:r>
            <a:endParaRPr lang="zh-CN"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1885950"/>
            <a:ext cx="438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</a:t>
            </a:r>
            <a:r>
              <a:rPr lang="en-US"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70</a:t>
            </a:r>
            <a:endParaRPr sz="13050" b="1">
              <a:solidFill>
                <a:srgbClr val="246A5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04850" y="3943350"/>
            <a:ext cx="35242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000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000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000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小时</a:t>
            </a:r>
            <a:endParaRPr sz="3000" b="0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476875" y="1809750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脚本编写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476875" y="2257425"/>
            <a:ext cx="59531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逐源解析、限速重试、错误识别和任务编排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476875" y="2876550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数据库定义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476875" y="3324225"/>
            <a:ext cx="59531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数据表、索引、视图、队列和配额账本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476875" y="3943350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数据获取与补抓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476875" y="4391025"/>
            <a:ext cx="59531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全体组员</a:t>
            </a: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多机连续运行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矩形 8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核心数据表已经累计 3,079,278 行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1628775"/>
            <a:ext cx="10668000" cy="1438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840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840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840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307.9 万</a:t>
            </a:r>
            <a:endParaRPr sz="8400" b="1">
              <a:solidFill>
                <a:srgbClr val="246A5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3286125"/>
            <a:ext cx="101917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625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625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625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核心数据记录</a:t>
            </a:r>
            <a:endParaRPr sz="2625" b="0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4362450"/>
            <a:ext cx="4857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50,956 款游戏</a:t>
            </a:r>
            <a:endParaRPr sz="315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57900" y="4362450"/>
            <a:ext cx="54292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1,971,064 条成就</a:t>
            </a:r>
            <a:endParaRPr sz="315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85800" y="5314950"/>
            <a:ext cx="103822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888,837 条标签关系</a:t>
            </a:r>
            <a:endParaRPr sz="315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核心数据表：每张表有多少行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562100"/>
          <a:ext cx="10972800" cy="4057650"/>
        </p:xfrm>
        <a:graphic>
          <a:graphicData uri="http://schemas.openxmlformats.org/drawingml/2006/table">
            <a:tbl>
              <a:tblPr firstRow="1" lastRow="1"/>
              <a:tblGrid>
                <a:gridCol w="3476625"/>
                <a:gridCol w="2238375"/>
                <a:gridCol w="5257800"/>
              </a:tblGrid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数据表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行数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内容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50,956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游戏主表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store_search_games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50,956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商店枚举记录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steam_appdetails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50,954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商店详情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steamspy_games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50,741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热度与口碑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rawg_games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15,770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评分、时长与状态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achievements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1,971,064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成就及完成率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game_tags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888,837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游戏与标签关系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核心数据合计</a:t>
                      </a:r>
                      <a:endParaRPr sz="1800" b="1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E2E9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3,079,278</a:t>
                      </a:r>
                      <a:endParaRPr sz="1800" b="1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E2E9D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以上7张表行数之和</a:t>
                      </a:r>
                      <a:endParaRPr sz="1800" b="1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E2E9D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lang="zh-CN"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后续计划</a:t>
            </a: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 包含六个方向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6238875"/>
            <a:ext cx="9715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按现有 plan.md：主线优先采用类型演变、主线进度漏斗与可解释推荐，其余分阶段扩展。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619250"/>
          <a:ext cx="10972800" cy="4038601"/>
        </p:xfrm>
        <a:graphic>
          <a:graphicData uri="http://schemas.openxmlformats.org/drawingml/2006/table">
            <a:tbl>
              <a:tblPr firstRow="1"/>
              <a:tblGrid>
                <a:gridCol w="3571875"/>
                <a:gridCol w="1095375"/>
                <a:gridCol w="291900"/>
                <a:gridCol w="2013150"/>
                <a:gridCol w="4000500"/>
              </a:tblGrid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方向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优先级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执行人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预期产出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发售年份与类型演变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主线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杨金辉</a:t>
                      </a:r>
                      <a:endParaRPr lang="zh-CN" altLang="en-US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年度趋势与热力图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游戏画像聚类与分型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扩展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耶美田</a:t>
                      </a:r>
                      <a:endParaRPr lang="zh-CN" altLang="en-US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游戏类别与代表作品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主线进度漏斗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主线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刘宇翔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关键主线节点完成率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知识图谱与可解释推荐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主线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朱政宇</a:t>
                      </a:r>
                      <a:endParaRPr lang="zh-CN" altLang="en-US"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相似游戏与推荐理由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分类完成曲线与RAWG对比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进阶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王文海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内容分类与跨平台对照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游戏口碑预测与关联因素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扩展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王文海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预测评估与相关因素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910</Words>
  <Application>WPS 演示</Application>
  <PresentationFormat>Converted Presentation</PresentationFormat>
  <Paragraphs>190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7" baseType="lpstr">
      <vt:lpstr>Arial</vt:lpstr>
      <vt:lpstr>宋体</vt:lpstr>
      <vt:lpstr>Wingdings</vt:lpstr>
      <vt:lpstr>Hiragino Sans GB</vt:lpstr>
      <vt:lpstr>微软雅黑</vt:lpstr>
      <vt:lpstr>方正雅意黑 GB18030L2</vt:lpstr>
      <vt:lpstr>Arial Unicode MS</vt:lpstr>
      <vt:lpstr>Aptos</vt:lpstr>
      <vt:lpstr>Helvetica Neue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王文海</cp:lastModifiedBy>
  <cp:revision>14</cp:revision>
  <dcterms:created xsi:type="dcterms:W3CDTF">2026-10-13T13:18:20Z</dcterms:created>
  <dcterms:modified xsi:type="dcterms:W3CDTF">2026-10-13T13:18:20Z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A73E244929757709DAA9CD6AC2B24E7D_42</vt:lpwstr>
  </property>
  <property fmtid="{D5CDD505-2E9C-101B-9397-08002B2CF9AE}" pid="3" name="KSOProductBuildVer">
    <vt:lpwstr>2052-12.1.28496.28496</vt:lpwstr>
  </property>
</Properties>
</file>